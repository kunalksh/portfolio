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4"/>
  </p:handoutMasterIdLst>
  <p:sldIdLst>
    <p:sldId id="273" r:id="rId2"/>
    <p:sldId id="276" r:id="rId3"/>
    <p:sldId id="277" r:id="rId4"/>
    <p:sldId id="278" r:id="rId5"/>
    <p:sldId id="279" r:id="rId6"/>
    <p:sldId id="280" r:id="rId7"/>
    <p:sldId id="281" r:id="rId8"/>
    <p:sldId id="283" r:id="rId9"/>
    <p:sldId id="286" r:id="rId10"/>
    <p:sldId id="282" r:id="rId11"/>
    <p:sldId id="284" r:id="rId12"/>
    <p:sldId id="2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0101"/>
    <a:srgbClr val="FF6600"/>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60"/>
  </p:normalViewPr>
  <p:slideViewPr>
    <p:cSldViewPr snapToGrid="0">
      <p:cViewPr varScale="1">
        <p:scale>
          <a:sx n="106" d="100"/>
          <a:sy n="106" d="100"/>
        </p:scale>
        <p:origin x="828" y="78"/>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1D47F6-EF53-062D-57F3-17AA6BE729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2664A2C-8DA0-AE83-C9D9-E578583F5F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379E51-B421-4DD7-9747-776A22EF0919}" type="datetimeFigureOut">
              <a:rPr lang="en-IN" smtClean="0"/>
              <a:t>10-04-2025</a:t>
            </a:fld>
            <a:endParaRPr lang="en-IN"/>
          </a:p>
        </p:txBody>
      </p:sp>
      <p:sp>
        <p:nvSpPr>
          <p:cNvPr id="4" name="Footer Placeholder 3">
            <a:extLst>
              <a:ext uri="{FF2B5EF4-FFF2-40B4-BE49-F238E27FC236}">
                <a16:creationId xmlns:a16="http://schemas.microsoft.com/office/drawing/2014/main" id="{BE1CD07B-DEFB-4064-74A8-330005059C8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9C1B368-98D1-923C-5CDB-20CB368A111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371A88-B3AF-4662-83EC-BF0985CE7A4D}" type="slidenum">
              <a:rPr lang="en-IN" smtClean="0"/>
              <a:t>‹#›</a:t>
            </a:fld>
            <a:endParaRPr lang="en-IN"/>
          </a:p>
        </p:txBody>
      </p:sp>
    </p:spTree>
    <p:extLst>
      <p:ext uri="{BB962C8B-B14F-4D97-AF65-F5344CB8AC3E}">
        <p14:creationId xmlns:p14="http://schemas.microsoft.com/office/powerpoint/2010/main" val="179130156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7B66B-6972-9980-CB5B-61D80C5A8A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7DCEDF-57CC-BF13-87D2-39057D55AB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7A93C-A795-DBEB-21B7-C4167D36B386}"/>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530060E9-7289-0DF0-88DD-FE14FBE01F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F526EC-AED6-1932-6EEA-22383C02350B}"/>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1016777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6A9FE-C7E9-4EEF-123B-7FB60822EC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96EB8B-DA58-72AD-E93D-A8C2D5A23A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D90422-84E5-2328-53A8-E61D2EF5552F}"/>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6DD03292-0B22-D806-57E5-5C638D0FBF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9A778-B145-18AC-7099-33DCB706ADBD}"/>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2053532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F8A2-2334-9A1D-4EE4-FF145FD6DD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15B385-F4B1-76F9-D826-8A257E0CF8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480B2B-4C9C-E7FC-42B8-3F8C1B7EE11F}"/>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7595EC97-080E-E390-6009-764763F3A1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A28E3C-43F3-C789-8192-E8D194A0E6AB}"/>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1200160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39B06-7DD7-A015-B3FB-A67795F558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981ADA-5A4A-D9FC-CF16-11E6A85B8C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F2F2D4-006A-BAD9-C938-5BBE1B52E4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BC3CE9-CB42-6BAF-5213-B47256F46AC4}"/>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6" name="Footer Placeholder 5">
            <a:extLst>
              <a:ext uri="{FF2B5EF4-FFF2-40B4-BE49-F238E27FC236}">
                <a16:creationId xmlns:a16="http://schemas.microsoft.com/office/drawing/2014/main" id="{DE870DCB-6BC9-9A22-3F3E-B606D691E9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824A13-2B06-B4C5-5693-7E654464F221}"/>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1911725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B72B8-482E-F642-1981-C166BEB971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006E3C-F75A-F8AD-2D84-DA108B6A7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D3300C-5459-FFB6-56E8-0B47B3697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F50BDF-E77B-C262-2DA1-022826DD1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2F08E1-E058-8006-CCBD-4F1DAB701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FA97F9-A60D-4546-3FA5-121353249EAA}"/>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8" name="Footer Placeholder 7">
            <a:extLst>
              <a:ext uri="{FF2B5EF4-FFF2-40B4-BE49-F238E27FC236}">
                <a16:creationId xmlns:a16="http://schemas.microsoft.com/office/drawing/2014/main" id="{7BBAE6EA-8DAF-8C70-877C-109800F794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BFA159-BD5C-42D4-C683-5F28C80E2284}"/>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3310046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5F3E-DB37-1972-758B-6DC388B84B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7BEB2B-B022-6725-3A36-6C9FF34643EC}"/>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4" name="Footer Placeholder 3">
            <a:extLst>
              <a:ext uri="{FF2B5EF4-FFF2-40B4-BE49-F238E27FC236}">
                <a16:creationId xmlns:a16="http://schemas.microsoft.com/office/drawing/2014/main" id="{4BF9C385-D154-186E-9DFB-98CB663E29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35F345-2DDE-37DD-0D54-D32614493885}"/>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3369997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58F6EF-C89A-BD80-EE7A-5B2F5173E591}"/>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3" name="Footer Placeholder 2">
            <a:extLst>
              <a:ext uri="{FF2B5EF4-FFF2-40B4-BE49-F238E27FC236}">
                <a16:creationId xmlns:a16="http://schemas.microsoft.com/office/drawing/2014/main" id="{AD39CA94-151C-546B-B3A6-EA285EA4D0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17256D-2D90-F8FA-751D-65B88C12F365}"/>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360629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1A080-6D90-DB35-DFF4-DD03E1802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7730CB-EC48-88A6-2CC5-63D360E6F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1FC130-B2CA-7091-D3C1-3187BA013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325A6-0C95-67AB-EA81-5BC17FB0A09F}"/>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6" name="Footer Placeholder 5">
            <a:extLst>
              <a:ext uri="{FF2B5EF4-FFF2-40B4-BE49-F238E27FC236}">
                <a16:creationId xmlns:a16="http://schemas.microsoft.com/office/drawing/2014/main" id="{A6533F9B-8C5F-B866-F481-F609EA7150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AA3884-1BC6-C2B9-5CAB-EBD89AC165A0}"/>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167375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DC5A-B08F-FB65-F267-1521FD545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633A00-BF95-81B8-679D-A2D945F12E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88F44D-1319-4AD8-92BE-7EE285457F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A2F6DF-CDA8-AAF1-E0D1-402A7CE12EE8}"/>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6" name="Footer Placeholder 5">
            <a:extLst>
              <a:ext uri="{FF2B5EF4-FFF2-40B4-BE49-F238E27FC236}">
                <a16:creationId xmlns:a16="http://schemas.microsoft.com/office/drawing/2014/main" id="{C4E731A1-EB3C-8798-7CF2-E38CDC1FBB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1593AA-69C1-E2F4-FF78-C1A30D447170}"/>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1420179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2B01-F2F8-D1A7-01D2-EF611B85E2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1997F-01EE-78DA-53AB-A2FFD9F5EC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17AB08-E613-D55D-CCD3-F45D3940AE1F}"/>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101F57CF-0EC6-497F-62A1-94A81E8A8D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BEB558-FC64-F138-E6D7-FFF05F727559}"/>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400085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59C3B4-EF79-04EA-0695-C25FD590F9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E7A9E5-3F63-1CF9-8586-C0A87B930A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652F8-584D-8474-D9FD-AA2B2D09465C}"/>
              </a:ext>
            </a:extLst>
          </p:cNvPr>
          <p:cNvSpPr>
            <a:spLocks noGrp="1"/>
          </p:cNvSpPr>
          <p:nvPr>
            <p:ph type="dt" sz="half" idx="10"/>
          </p:nvPr>
        </p:nvSpPr>
        <p:spPr/>
        <p:txBody>
          <a:body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55BC01CA-8726-79BA-EBE0-E24E99449F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31274-3BA4-3BB7-4C24-4275874B7990}"/>
              </a:ext>
            </a:extLst>
          </p:cNvPr>
          <p:cNvSpPr>
            <a:spLocks noGrp="1"/>
          </p:cNvSpPr>
          <p:nvPr>
            <p:ph type="sldNum" sz="quarter" idx="12"/>
          </p:nvPr>
        </p:nvSpPr>
        <p:spPr/>
        <p:txBody>
          <a:bodyPr/>
          <a:lstStyle/>
          <a:p>
            <a:fld id="{B5B48438-C15F-4289-9088-A5F9AD893008}" type="slidenum">
              <a:rPr lang="en-IN" smtClean="0"/>
              <a:t>‹#›</a:t>
            </a:fld>
            <a:endParaRPr lang="en-IN"/>
          </a:p>
        </p:txBody>
      </p:sp>
    </p:spTree>
    <p:extLst>
      <p:ext uri="{BB962C8B-B14F-4D97-AF65-F5344CB8AC3E}">
        <p14:creationId xmlns:p14="http://schemas.microsoft.com/office/powerpoint/2010/main" val="2698916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D54DFD-31A4-AB86-FAFA-54D23BBD3E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5C89F8-7259-E528-C9B5-88011421A5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B9E7FC-7B5A-AF82-A662-9C77336A4B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30B79-E95B-4FA3-AD48-9CCDFF3B2075}" type="datetimeFigureOut">
              <a:rPr lang="en-IN" smtClean="0"/>
              <a:t>10-04-2025</a:t>
            </a:fld>
            <a:endParaRPr lang="en-IN"/>
          </a:p>
        </p:txBody>
      </p:sp>
      <p:sp>
        <p:nvSpPr>
          <p:cNvPr id="5" name="Footer Placeholder 4">
            <a:extLst>
              <a:ext uri="{FF2B5EF4-FFF2-40B4-BE49-F238E27FC236}">
                <a16:creationId xmlns:a16="http://schemas.microsoft.com/office/drawing/2014/main" id="{A6812452-0325-3A9F-2E60-2AC83384B1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393B418-6850-7BCB-C0FF-5347368A0B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B48438-C15F-4289-9088-A5F9AD893008}" type="slidenum">
              <a:rPr lang="en-IN" smtClean="0"/>
              <a:t>‹#›</a:t>
            </a:fld>
            <a:endParaRPr lang="en-IN"/>
          </a:p>
        </p:txBody>
      </p:sp>
    </p:spTree>
    <p:extLst>
      <p:ext uri="{BB962C8B-B14F-4D97-AF65-F5344CB8AC3E}">
        <p14:creationId xmlns:p14="http://schemas.microsoft.com/office/powerpoint/2010/main" val="2649239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sp>
        <p:nvSpPr>
          <p:cNvPr id="4" name="TextBox 3">
            <a:extLst>
              <a:ext uri="{FF2B5EF4-FFF2-40B4-BE49-F238E27FC236}">
                <a16:creationId xmlns:a16="http://schemas.microsoft.com/office/drawing/2014/main" id="{8566F4EF-A72F-9A6B-83BC-44CEAC97C80F}"/>
              </a:ext>
            </a:extLst>
          </p:cNvPr>
          <p:cNvSpPr txBox="1"/>
          <p:nvPr/>
        </p:nvSpPr>
        <p:spPr>
          <a:xfrm>
            <a:off x="284672" y="336431"/>
            <a:ext cx="10679501" cy="2031325"/>
          </a:xfrm>
          <a:prstGeom prst="rect">
            <a:avLst/>
          </a:prstGeom>
          <a:noFill/>
        </p:spPr>
        <p:txBody>
          <a:bodyPr wrap="square" rtlCol="0">
            <a:spAutoFit/>
          </a:bodyPr>
          <a:lstStyle/>
          <a:p>
            <a:r>
              <a:rPr lang="en-US" sz="4200" b="1" dirty="0">
                <a:solidFill>
                  <a:srgbClr val="C00000"/>
                </a:solidFill>
                <a:latin typeface="Times New Roman" panose="02020603050405020304" pitchFamily="18" charset="0"/>
                <a:cs typeface="Times New Roman" panose="02020603050405020304" pitchFamily="18" charset="0"/>
              </a:rPr>
              <a:t>"Market Street Wine: A Comprehensive Case Study.“</a:t>
            </a:r>
            <a:br>
              <a:rPr lang="en-US" sz="3600" b="1" dirty="0">
                <a:solidFill>
                  <a:srgbClr val="C00000"/>
                </a:solidFill>
                <a:latin typeface="Times New Roman" panose="02020603050405020304" pitchFamily="18" charset="0"/>
                <a:cs typeface="Times New Roman" panose="02020603050405020304" pitchFamily="18" charset="0"/>
              </a:rPr>
            </a:br>
            <a:br>
              <a:rPr lang="en-US" sz="1800" b="1" dirty="0">
                <a:solidFill>
                  <a:srgbClr val="C00000"/>
                </a:solidFill>
                <a:latin typeface="Times New Roman" panose="02020603050405020304" pitchFamily="18" charset="0"/>
                <a:cs typeface="Times New Roman" panose="02020603050405020304" pitchFamily="18" charset="0"/>
              </a:rPr>
            </a:br>
            <a:r>
              <a:rPr lang="en-US" sz="2400" b="1" dirty="0">
                <a:solidFill>
                  <a:srgbClr val="C00000"/>
                </a:solidFill>
                <a:latin typeface="Times New Roman" panose="02020603050405020304" pitchFamily="18" charset="0"/>
                <a:cs typeface="Times New Roman" panose="02020603050405020304" pitchFamily="18" charset="0"/>
              </a:rPr>
              <a:t>“An Exploration of Trends, Challenges, and Strategic Opportunities."</a:t>
            </a:r>
            <a:endParaRPr lang="en-IN" sz="2400" dirty="0">
              <a:solidFill>
                <a:srgbClr val="C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1E073D-2FB4-D90A-A3E2-71BB617718B1}"/>
              </a:ext>
            </a:extLst>
          </p:cNvPr>
          <p:cNvSpPr txBox="1"/>
          <p:nvPr/>
        </p:nvSpPr>
        <p:spPr>
          <a:xfrm>
            <a:off x="8764438" y="4545904"/>
            <a:ext cx="3269411" cy="1938992"/>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Prepared By: Group B</a:t>
            </a:r>
          </a:p>
          <a:p>
            <a:endParaRPr lang="en-US" sz="2000" b="1" dirty="0">
              <a:solidFill>
                <a:srgbClr val="FF0000"/>
              </a:solidFill>
              <a:latin typeface="Times New Roman" panose="02020603050405020304" pitchFamily="18" charset="0"/>
              <a:cs typeface="Times New Roman" panose="02020603050405020304" pitchFamily="18" charset="0"/>
            </a:endParaRPr>
          </a:p>
          <a:p>
            <a:r>
              <a:rPr lang="en-US" sz="2000" b="1" dirty="0">
                <a:solidFill>
                  <a:srgbClr val="FF0000"/>
                </a:solidFill>
                <a:latin typeface="Times New Roman" panose="02020603050405020304" pitchFamily="18" charset="0"/>
                <a:cs typeface="Times New Roman" panose="02020603050405020304" pitchFamily="18" charset="0"/>
              </a:rPr>
              <a:t>Deepika </a:t>
            </a:r>
            <a:r>
              <a:rPr lang="en-US" sz="2000" b="1" dirty="0" err="1">
                <a:solidFill>
                  <a:srgbClr val="FF0000"/>
                </a:solidFill>
                <a:latin typeface="Times New Roman" panose="02020603050405020304" pitchFamily="18" charset="0"/>
                <a:cs typeface="Times New Roman" panose="02020603050405020304" pitchFamily="18" charset="0"/>
              </a:rPr>
              <a:t>Rohra</a:t>
            </a:r>
            <a:r>
              <a:rPr lang="en-US" sz="2000" b="1" dirty="0">
                <a:solidFill>
                  <a:srgbClr val="FF0000"/>
                </a:solidFill>
                <a:latin typeface="Times New Roman" panose="02020603050405020304" pitchFamily="18" charset="0"/>
                <a:cs typeface="Times New Roman" panose="02020603050405020304" pitchFamily="18" charset="0"/>
              </a:rPr>
              <a:t>(XA24005)</a:t>
            </a:r>
          </a:p>
          <a:p>
            <a:r>
              <a:rPr lang="en-US" sz="2000" b="1" dirty="0">
                <a:solidFill>
                  <a:srgbClr val="FF0000"/>
                </a:solidFill>
                <a:latin typeface="Times New Roman" panose="02020603050405020304" pitchFamily="18" charset="0"/>
                <a:cs typeface="Times New Roman" panose="02020603050405020304" pitchFamily="18" charset="0"/>
              </a:rPr>
              <a:t>Kunal Kaushal(XA24007)</a:t>
            </a:r>
          </a:p>
          <a:p>
            <a:r>
              <a:rPr lang="en-US" sz="2000" b="1" dirty="0">
                <a:solidFill>
                  <a:srgbClr val="FF0000"/>
                </a:solidFill>
                <a:latin typeface="Times New Roman" panose="02020603050405020304" pitchFamily="18" charset="0"/>
                <a:cs typeface="Times New Roman" panose="02020603050405020304" pitchFamily="18" charset="0"/>
              </a:rPr>
              <a:t>Diwakar Sharma(XA24006)</a:t>
            </a:r>
          </a:p>
          <a:p>
            <a:r>
              <a:rPr lang="en-US" sz="2000" b="1" dirty="0">
                <a:solidFill>
                  <a:srgbClr val="FF0000"/>
                </a:solidFill>
                <a:latin typeface="Times New Roman" panose="02020603050405020304" pitchFamily="18" charset="0"/>
                <a:cs typeface="Times New Roman" panose="02020603050405020304" pitchFamily="18" charset="0"/>
              </a:rPr>
              <a:t>Mayank Rathod(XA24008)</a:t>
            </a:r>
            <a:endParaRPr lang="en-IN" sz="20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66020CA-AD04-526C-AF97-D06E6C9D8C76}"/>
              </a:ext>
            </a:extLst>
          </p:cNvPr>
          <p:cNvSpPr txBox="1"/>
          <p:nvPr/>
        </p:nvSpPr>
        <p:spPr>
          <a:xfrm>
            <a:off x="388189" y="2924355"/>
            <a:ext cx="5572664"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"R was employed for the initial data cleaning, streamlining the preparation phase for analysis."</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999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4" y="0"/>
            <a:ext cx="12194260" cy="6858000"/>
          </a:xfrm>
          <a:prstGeom prst="rect">
            <a:avLst/>
          </a:prstGeom>
        </p:spPr>
      </p:pic>
      <p:pic>
        <p:nvPicPr>
          <p:cNvPr id="6" name="Picture 5" descr="A red and white graph&#10;&#10;Description automatically generated">
            <a:extLst>
              <a:ext uri="{FF2B5EF4-FFF2-40B4-BE49-F238E27FC236}">
                <a16:creationId xmlns:a16="http://schemas.microsoft.com/office/drawing/2014/main" id="{C7070464-F161-2D82-117F-70855878B8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45" y="671952"/>
            <a:ext cx="11412747" cy="5327878"/>
          </a:xfrm>
          <a:prstGeom prst="rect">
            <a:avLst/>
          </a:prstGeom>
        </p:spPr>
      </p:pic>
      <p:sp>
        <p:nvSpPr>
          <p:cNvPr id="9" name="TextBox 8">
            <a:extLst>
              <a:ext uri="{FF2B5EF4-FFF2-40B4-BE49-F238E27FC236}">
                <a16:creationId xmlns:a16="http://schemas.microsoft.com/office/drawing/2014/main" id="{67AC2FCF-1445-583A-B509-423578E417A5}"/>
              </a:ext>
            </a:extLst>
          </p:cNvPr>
          <p:cNvSpPr txBox="1"/>
          <p:nvPr/>
        </p:nvSpPr>
        <p:spPr>
          <a:xfrm>
            <a:off x="543464" y="172528"/>
            <a:ext cx="11145327" cy="400110"/>
          </a:xfrm>
          <a:prstGeom prst="rect">
            <a:avLst/>
          </a:prstGeom>
          <a:noFill/>
        </p:spPr>
        <p:txBody>
          <a:bodyPr wrap="square" rtlCol="0">
            <a:spAutoFit/>
          </a:bodyPr>
          <a:lstStyle/>
          <a:p>
            <a:pPr algn="ctr"/>
            <a:r>
              <a:rPr lang="en-US" sz="2000" b="1" dirty="0">
                <a:solidFill>
                  <a:srgbClr val="850101"/>
                </a:solidFill>
                <a:latin typeface="Times New Roman" panose="02020603050405020304" pitchFamily="18" charset="0"/>
                <a:cs typeface="Times New Roman" panose="02020603050405020304" pitchFamily="18" charset="0"/>
              </a:rPr>
              <a:t>To begin the analysis, we used flavors as our primary focus and starting point</a:t>
            </a:r>
            <a:endParaRPr lang="en-IN" sz="2000" b="1" dirty="0">
              <a:solidFill>
                <a:srgbClr val="850101"/>
              </a:solidFill>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55680846-E24E-7069-422E-B06D5D96B672}"/>
              </a:ext>
            </a:extLst>
          </p:cNvPr>
          <p:cNvGraphicFramePr>
            <a:graphicFrameLocks noGrp="1"/>
          </p:cNvGraphicFramePr>
          <p:nvPr>
            <p:extLst>
              <p:ext uri="{D42A27DB-BD31-4B8C-83A1-F6EECF244321}">
                <p14:modId xmlns:p14="http://schemas.microsoft.com/office/powerpoint/2010/main" val="3244596698"/>
              </p:ext>
            </p:extLst>
          </p:nvPr>
        </p:nvGraphicFramePr>
        <p:xfrm>
          <a:off x="7879152" y="4230523"/>
          <a:ext cx="3688871" cy="1221323"/>
        </p:xfrm>
        <a:graphic>
          <a:graphicData uri="http://schemas.openxmlformats.org/drawingml/2006/table">
            <a:tbl>
              <a:tblPr/>
              <a:tblGrid>
                <a:gridCol w="550749">
                  <a:extLst>
                    <a:ext uri="{9D8B030D-6E8A-4147-A177-3AD203B41FA5}">
                      <a16:colId xmlns:a16="http://schemas.microsoft.com/office/drawing/2014/main" val="991881860"/>
                    </a:ext>
                  </a:extLst>
                </a:gridCol>
                <a:gridCol w="714252">
                  <a:extLst>
                    <a:ext uri="{9D8B030D-6E8A-4147-A177-3AD203B41FA5}">
                      <a16:colId xmlns:a16="http://schemas.microsoft.com/office/drawing/2014/main" val="2532691704"/>
                    </a:ext>
                  </a:extLst>
                </a:gridCol>
                <a:gridCol w="1331389">
                  <a:extLst>
                    <a:ext uri="{9D8B030D-6E8A-4147-A177-3AD203B41FA5}">
                      <a16:colId xmlns:a16="http://schemas.microsoft.com/office/drawing/2014/main" val="911821226"/>
                    </a:ext>
                  </a:extLst>
                </a:gridCol>
                <a:gridCol w="381097">
                  <a:extLst>
                    <a:ext uri="{9D8B030D-6E8A-4147-A177-3AD203B41FA5}">
                      <a16:colId xmlns:a16="http://schemas.microsoft.com/office/drawing/2014/main" val="968133288"/>
                    </a:ext>
                  </a:extLst>
                </a:gridCol>
                <a:gridCol w="711384">
                  <a:extLst>
                    <a:ext uri="{9D8B030D-6E8A-4147-A177-3AD203B41FA5}">
                      <a16:colId xmlns:a16="http://schemas.microsoft.com/office/drawing/2014/main" val="2221142164"/>
                    </a:ext>
                  </a:extLst>
                </a:gridCol>
              </a:tblGrid>
              <a:tr h="488528">
                <a:tc>
                  <a:txBody>
                    <a:bodyPr/>
                    <a:lstStyle/>
                    <a:p>
                      <a:pPr algn="ctr" fontAlgn="ctr"/>
                      <a:r>
                        <a:rPr lang="en-IN" sz="1100" b="0" i="0" u="none" strike="noStrike" dirty="0">
                          <a:solidFill>
                            <a:srgbClr val="000000"/>
                          </a:solidFill>
                          <a:effectLst/>
                          <a:latin typeface="Calibri" panose="020F0502020204030204" pitchFamily="34" charset="0"/>
                        </a:rPr>
                        <a:t>SR.NO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5327"/>
                    </a:solidFill>
                  </a:tcPr>
                </a:tc>
                <a:tc>
                  <a:txBody>
                    <a:bodyPr/>
                    <a:lstStyle/>
                    <a:p>
                      <a:pPr algn="ctr" fontAlgn="ctr"/>
                      <a:r>
                        <a:rPr lang="en-IN" sz="1100" b="0" i="0" u="none" strike="noStrike" dirty="0">
                          <a:solidFill>
                            <a:srgbClr val="000000"/>
                          </a:solidFill>
                          <a:effectLst/>
                          <a:latin typeface="Calibri" panose="020F0502020204030204" pitchFamily="34" charset="0"/>
                        </a:rPr>
                        <a:t>TOP FLAVOUR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5327"/>
                    </a:solidFill>
                  </a:tcPr>
                </a:tc>
                <a:tc>
                  <a:txBody>
                    <a:bodyPr/>
                    <a:lstStyle/>
                    <a:p>
                      <a:pPr algn="ctr" fontAlgn="ctr"/>
                      <a:r>
                        <a:rPr lang="en-IN" sz="1100" b="0" i="0" u="none" strike="noStrike" dirty="0">
                          <a:solidFill>
                            <a:srgbClr val="000000"/>
                          </a:solidFill>
                          <a:effectLst/>
                          <a:latin typeface="Calibri" panose="020F0502020204030204" pitchFamily="34" charset="0"/>
                        </a:rPr>
                        <a:t>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5327"/>
                    </a:solidFill>
                  </a:tcPr>
                </a:tc>
                <a:tc>
                  <a:txBody>
                    <a:bodyPr/>
                    <a:lstStyle/>
                    <a:p>
                      <a:pPr algn="ctr" fontAlgn="ctr"/>
                      <a:r>
                        <a:rPr lang="en-IN" sz="1100" b="0" i="0" u="none" strike="noStrike">
                          <a:solidFill>
                            <a:srgbClr val="000000"/>
                          </a:solidFill>
                          <a:effectLst/>
                          <a:latin typeface="Calibri" panose="020F0502020204030204" pitchFamily="34" charset="0"/>
                        </a:rPr>
                        <a:t>AVG PRICE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5327"/>
                    </a:solidFill>
                  </a:tcPr>
                </a:tc>
                <a:tc>
                  <a:txBody>
                    <a:bodyPr/>
                    <a:lstStyle/>
                    <a:p>
                      <a:pPr algn="ctr" fontAlgn="ctr"/>
                      <a:r>
                        <a:rPr lang="en-IN" sz="1100" b="0" i="0" u="none" strike="noStrike">
                          <a:solidFill>
                            <a:srgbClr val="000000"/>
                          </a:solidFill>
                          <a:effectLst/>
                          <a:latin typeface="Calibri" panose="020F0502020204030204" pitchFamily="34" charset="0"/>
                        </a:rPr>
                        <a:t> TOP WINE STYLE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5327"/>
                    </a:solidFill>
                  </a:tcPr>
                </a:tc>
                <a:extLst>
                  <a:ext uri="{0D108BD9-81ED-4DB2-BD59-A6C34878D82A}">
                    <a16:rowId xmlns:a16="http://schemas.microsoft.com/office/drawing/2014/main" val="2879975228"/>
                  </a:ext>
                </a:extLst>
              </a:tr>
              <a:tr h="244265">
                <a:tc>
                  <a:txBody>
                    <a:bodyPr/>
                    <a:lstStyle/>
                    <a:p>
                      <a:pPr algn="ctr" fontAlgn="b"/>
                      <a:r>
                        <a:rPr lang="en-IN" sz="11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Fruit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17101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45.16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Red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448073"/>
                  </a:ext>
                </a:extLst>
              </a:tr>
              <a:tr h="244265">
                <a:tc>
                  <a:txBody>
                    <a:bodyPr/>
                    <a:lstStyle/>
                    <a:p>
                      <a:pPr algn="ctr" fontAlgn="b"/>
                      <a:r>
                        <a:rPr lang="en-IN" sz="11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cherry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11681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49.96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White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6418448"/>
                  </a:ext>
                </a:extLst>
              </a:tr>
              <a:tr h="244265">
                <a:tc>
                  <a:txBody>
                    <a:bodyPr/>
                    <a:lstStyle/>
                    <a:p>
                      <a:pPr algn="ctr" fontAlgn="b"/>
                      <a:r>
                        <a:rPr lang="en-IN" sz="11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tanni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11295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53.29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Rose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378139"/>
                  </a:ext>
                </a:extLst>
              </a:tr>
            </a:tbl>
          </a:graphicData>
        </a:graphic>
      </p:graphicFrame>
      <p:sp>
        <p:nvSpPr>
          <p:cNvPr id="16" name="TextBox 15">
            <a:extLst>
              <a:ext uri="{FF2B5EF4-FFF2-40B4-BE49-F238E27FC236}">
                <a16:creationId xmlns:a16="http://schemas.microsoft.com/office/drawing/2014/main" id="{AB34F8AE-237E-2EF7-3317-1D9C1BF6CDED}"/>
              </a:ext>
            </a:extLst>
          </p:cNvPr>
          <p:cNvSpPr txBox="1"/>
          <p:nvPr/>
        </p:nvSpPr>
        <p:spPr>
          <a:xfrm>
            <a:off x="276046" y="6186048"/>
            <a:ext cx="11412746" cy="584775"/>
          </a:xfrm>
          <a:prstGeom prst="rect">
            <a:avLst/>
          </a:prstGeom>
          <a:noFill/>
        </p:spPr>
        <p:txBody>
          <a:bodyPr wrap="square" rtlCol="0">
            <a:spAutoFit/>
          </a:bodyPr>
          <a:lstStyle/>
          <a:p>
            <a:r>
              <a:rPr lang="en-US" sz="1600" b="1" dirty="0">
                <a:solidFill>
                  <a:schemeClr val="bg1"/>
                </a:solidFill>
                <a:latin typeface="Times New Roman" panose="02020603050405020304" pitchFamily="18" charset="0"/>
                <a:cs typeface="Times New Roman" panose="02020603050405020304" pitchFamily="18" charset="0"/>
              </a:rPr>
              <a:t>“Here, the flavors present in the highest number of wines could be a deciding factor. We have identified the wine styles in which these flavors are found. The recommended wine styles are: Red, White, and Rosé.”</a:t>
            </a:r>
          </a:p>
        </p:txBody>
      </p:sp>
    </p:spTree>
    <p:extLst>
      <p:ext uri="{BB962C8B-B14F-4D97-AF65-F5344CB8AC3E}">
        <p14:creationId xmlns:p14="http://schemas.microsoft.com/office/powerpoint/2010/main" val="2924220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pic>
        <p:nvPicPr>
          <p:cNvPr id="6" name="Picture 5" descr="A map of the united states&#10;&#10;Description automatically generated">
            <a:extLst>
              <a:ext uri="{FF2B5EF4-FFF2-40B4-BE49-F238E27FC236}">
                <a16:creationId xmlns:a16="http://schemas.microsoft.com/office/drawing/2014/main" id="{9E144BA2-EE6C-2394-F6F4-A6CD1A056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698" y="599240"/>
            <a:ext cx="9299238" cy="5005025"/>
          </a:xfrm>
          <a:prstGeom prst="rect">
            <a:avLst/>
          </a:prstGeom>
        </p:spPr>
      </p:pic>
      <p:pic>
        <p:nvPicPr>
          <p:cNvPr id="10" name="Picture 9" descr="A map of the united states&#10;&#10;Description automatically generated">
            <a:extLst>
              <a:ext uri="{FF2B5EF4-FFF2-40B4-BE49-F238E27FC236}">
                <a16:creationId xmlns:a16="http://schemas.microsoft.com/office/drawing/2014/main" id="{959ABFDA-7F58-C8AA-CEBE-9502798353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9671" y="2009646"/>
            <a:ext cx="3510805" cy="1799280"/>
          </a:xfrm>
          <a:prstGeom prst="rect">
            <a:avLst/>
          </a:prstGeom>
        </p:spPr>
      </p:pic>
      <p:pic>
        <p:nvPicPr>
          <p:cNvPr id="12" name="Picture 11" descr="A map of the united states&#10;&#10;Description automatically generated">
            <a:extLst>
              <a:ext uri="{FF2B5EF4-FFF2-40B4-BE49-F238E27FC236}">
                <a16:creationId xmlns:a16="http://schemas.microsoft.com/office/drawing/2014/main" id="{1D41ACE2-55C2-6FB7-61F0-4AA27EEAEA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9671" y="3931033"/>
            <a:ext cx="3510803" cy="1799280"/>
          </a:xfrm>
          <a:prstGeom prst="rect">
            <a:avLst/>
          </a:prstGeom>
        </p:spPr>
      </p:pic>
      <p:pic>
        <p:nvPicPr>
          <p:cNvPr id="14" name="Picture 13" descr="A map of the united states&#10;&#10;Description automatically generated">
            <a:extLst>
              <a:ext uri="{FF2B5EF4-FFF2-40B4-BE49-F238E27FC236}">
                <a16:creationId xmlns:a16="http://schemas.microsoft.com/office/drawing/2014/main" id="{E1B88516-C6A2-A190-F60B-75C2C54932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298" y="4722450"/>
            <a:ext cx="4037053" cy="2033163"/>
          </a:xfrm>
          <a:prstGeom prst="rect">
            <a:avLst/>
          </a:prstGeom>
        </p:spPr>
      </p:pic>
      <p:sp>
        <p:nvSpPr>
          <p:cNvPr id="16" name="TextBox 15">
            <a:extLst>
              <a:ext uri="{FF2B5EF4-FFF2-40B4-BE49-F238E27FC236}">
                <a16:creationId xmlns:a16="http://schemas.microsoft.com/office/drawing/2014/main" id="{DA5C3CEF-39B9-F22E-9CCF-A567B2D621D6}"/>
              </a:ext>
            </a:extLst>
          </p:cNvPr>
          <p:cNvSpPr txBox="1"/>
          <p:nvPr/>
        </p:nvSpPr>
        <p:spPr>
          <a:xfrm>
            <a:off x="4323527" y="5730313"/>
            <a:ext cx="6154946" cy="840230"/>
          </a:xfrm>
          <a:prstGeom prst="rect">
            <a:avLst/>
          </a:prstGeom>
          <a:noFill/>
        </p:spPr>
        <p:txBody>
          <a:bodyPr wrap="square">
            <a:spAutoFit/>
          </a:bodyPr>
          <a:lstStyle/>
          <a:p>
            <a:pPr indent="-228600">
              <a:lnSpc>
                <a:spcPct val="90000"/>
              </a:lnSpc>
              <a:spcAft>
                <a:spcPts val="600"/>
              </a:spcAf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graphs show that a high number of wineries producing Rosé, Red, and White wines are in the western and north-eastern regions of the U.S., making them easily accessible</a:t>
            </a:r>
            <a:r>
              <a:rPr lang="en-US" sz="1800" b="1" dirty="0">
                <a:solidFill>
                  <a:schemeClr val="accent1">
                    <a:lumMod val="40000"/>
                    <a:lumOff val="60000"/>
                  </a:schemeClr>
                </a:solidFill>
              </a:rPr>
              <a:t>.</a:t>
            </a:r>
          </a:p>
        </p:txBody>
      </p:sp>
      <p:sp>
        <p:nvSpPr>
          <p:cNvPr id="18" name="TextBox 17">
            <a:extLst>
              <a:ext uri="{FF2B5EF4-FFF2-40B4-BE49-F238E27FC236}">
                <a16:creationId xmlns:a16="http://schemas.microsoft.com/office/drawing/2014/main" id="{AFFC9CA6-B7DC-BFE9-E4AB-3A760102CF88}"/>
              </a:ext>
            </a:extLst>
          </p:cNvPr>
          <p:cNvSpPr txBox="1"/>
          <p:nvPr/>
        </p:nvSpPr>
        <p:spPr>
          <a:xfrm>
            <a:off x="-1" y="102350"/>
            <a:ext cx="12344401" cy="353943"/>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Q2-Were there wine producing regions more easily available in United States that wine drinkers might be interested in?</a:t>
            </a:r>
            <a:r>
              <a:rPr lang="en-US" sz="1700" b="1" dirty="0">
                <a:solidFill>
                  <a:schemeClr val="bg1"/>
                </a:solidFill>
                <a:latin typeface="Times New Roman" panose="02020603050405020304" pitchFamily="18" charset="0"/>
                <a:cs typeface="Times New Roman" panose="02020603050405020304" pitchFamily="18" charset="0"/>
              </a:rPr>
              <a:t>---"</a:t>
            </a:r>
            <a:r>
              <a:rPr lang="en-US" sz="1700" dirty="0">
                <a:solidFill>
                  <a:schemeClr val="bg1"/>
                </a:solidFill>
                <a:latin typeface="Times New Roman" panose="02020603050405020304" pitchFamily="18" charset="0"/>
                <a:cs typeface="Times New Roman" panose="02020603050405020304" pitchFamily="18" charset="0"/>
              </a:rPr>
              <a:t>YES"</a:t>
            </a:r>
            <a:endParaRPr lang="en-IN" sz="17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555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9" y="-64698"/>
            <a:ext cx="12191981" cy="6987396"/>
          </a:xfrm>
          <a:prstGeom prst="rect">
            <a:avLst/>
          </a:prstGeom>
        </p:spPr>
      </p:pic>
      <p:sp>
        <p:nvSpPr>
          <p:cNvPr id="10" name="TextBox 9">
            <a:extLst>
              <a:ext uri="{FF2B5EF4-FFF2-40B4-BE49-F238E27FC236}">
                <a16:creationId xmlns:a16="http://schemas.microsoft.com/office/drawing/2014/main" id="{E2010ABE-8261-5D3C-7A25-2E5A9EA551F8}"/>
              </a:ext>
            </a:extLst>
          </p:cNvPr>
          <p:cNvSpPr txBox="1"/>
          <p:nvPr/>
        </p:nvSpPr>
        <p:spPr>
          <a:xfrm>
            <a:off x="179738" y="5478579"/>
            <a:ext cx="11698836" cy="1246495"/>
          </a:xfrm>
          <a:prstGeom prst="rect">
            <a:avLst/>
          </a:prstGeom>
          <a:noFill/>
        </p:spPr>
        <p:txBody>
          <a:bodyPr wrap="square">
            <a:spAutoFit/>
          </a:bodyPr>
          <a:lstStyle/>
          <a:p>
            <a:pPr>
              <a:buNone/>
            </a:pPr>
            <a:r>
              <a:rPr lang="en-US" sz="1500" b="1" dirty="0">
                <a:solidFill>
                  <a:schemeClr val="bg1"/>
                </a:solidFill>
                <a:latin typeface="Times New Roman" panose="02020603050405020304" pitchFamily="18" charset="0"/>
                <a:cs typeface="Times New Roman" panose="02020603050405020304" pitchFamily="18" charset="0"/>
              </a:rPr>
              <a:t>Graph: Average Price vs. Bottle Size and Wine Style (Price Filter: Up to $20)</a:t>
            </a:r>
            <a:endParaRPr lang="en-US" sz="1500" dirty="0">
              <a:solidFill>
                <a:schemeClr val="bg1"/>
              </a:solidFill>
              <a:latin typeface="Times New Roman" panose="02020603050405020304" pitchFamily="18" charset="0"/>
              <a:cs typeface="Times New Roman" panose="02020603050405020304" pitchFamily="18" charset="0"/>
            </a:endParaRPr>
          </a:p>
          <a:p>
            <a:r>
              <a:rPr lang="en-US" sz="1500" dirty="0">
                <a:solidFill>
                  <a:schemeClr val="bg1"/>
                </a:solidFill>
                <a:latin typeface="Times New Roman" panose="02020603050405020304" pitchFamily="18" charset="0"/>
                <a:cs typeface="Times New Roman" panose="02020603050405020304" pitchFamily="18" charset="0"/>
              </a:rPr>
              <a:t>Red, Rosé, and White wines offer the most options across multiple categories.</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Among bottle sizes, </a:t>
            </a:r>
            <a:r>
              <a:rPr lang="en-US" sz="1500" b="1" dirty="0">
                <a:solidFill>
                  <a:schemeClr val="bg1"/>
                </a:solidFill>
                <a:latin typeface="Times New Roman" panose="02020603050405020304" pitchFamily="18" charset="0"/>
                <a:cs typeface="Times New Roman" panose="02020603050405020304" pitchFamily="18" charset="0"/>
              </a:rPr>
              <a:t>750 ml is the most recommended</a:t>
            </a:r>
            <a:r>
              <a:rPr lang="en-US" sz="1500" dirty="0">
                <a:solidFill>
                  <a:schemeClr val="bg1"/>
                </a:solidFill>
                <a:latin typeface="Times New Roman" panose="02020603050405020304" pitchFamily="18" charset="0"/>
                <a:cs typeface="Times New Roman" panose="02020603050405020304" pitchFamily="18" charset="0"/>
              </a:rPr>
              <a:t> as it covers all wine styles and offers the </a:t>
            </a:r>
            <a:r>
              <a:rPr lang="en-US" sz="1500" b="1" dirty="0">
                <a:solidFill>
                  <a:schemeClr val="bg1"/>
                </a:solidFill>
                <a:latin typeface="Times New Roman" panose="02020603050405020304" pitchFamily="18" charset="0"/>
                <a:cs typeface="Times New Roman" panose="02020603050405020304" pitchFamily="18" charset="0"/>
              </a:rPr>
              <a:t>lowest unit price</a:t>
            </a:r>
            <a:r>
              <a:rPr lang="en-US" sz="1500" dirty="0">
                <a:solidFill>
                  <a:schemeClr val="bg1"/>
                </a:solidFill>
                <a:latin typeface="Times New Roman" panose="02020603050405020304" pitchFamily="18" charset="0"/>
                <a:cs typeface="Times New Roman" panose="02020603050405020304" pitchFamily="18" charset="0"/>
              </a:rPr>
              <a:t>, making it the most cost-effective choice.</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For the 750 ml size, </a:t>
            </a:r>
            <a:r>
              <a:rPr lang="en-US" sz="1500" b="1" dirty="0">
                <a:solidFill>
                  <a:schemeClr val="bg1"/>
                </a:solidFill>
                <a:latin typeface="Times New Roman" panose="02020603050405020304" pitchFamily="18" charset="0"/>
                <a:cs typeface="Times New Roman" panose="02020603050405020304" pitchFamily="18" charset="0"/>
              </a:rPr>
              <a:t>White wine is available across the widest price range</a:t>
            </a:r>
            <a:r>
              <a:rPr lang="en-US" sz="1500" dirty="0">
                <a:solidFill>
                  <a:schemeClr val="bg1"/>
                </a:solidFill>
                <a:latin typeface="Times New Roman" panose="02020603050405020304" pitchFamily="18" charset="0"/>
                <a:cs typeface="Times New Roman" panose="02020603050405020304" pitchFamily="18" charset="0"/>
              </a:rPr>
              <a:t>, while </a:t>
            </a:r>
            <a:r>
              <a:rPr lang="en-US" sz="1500" b="1" dirty="0">
                <a:solidFill>
                  <a:schemeClr val="bg1"/>
                </a:solidFill>
                <a:latin typeface="Times New Roman" panose="02020603050405020304" pitchFamily="18" charset="0"/>
                <a:cs typeface="Times New Roman" panose="02020603050405020304" pitchFamily="18" charset="0"/>
              </a:rPr>
              <a:t>Red and Rosé wines</a:t>
            </a:r>
            <a:r>
              <a:rPr lang="en-US" sz="1500" dirty="0">
                <a:solidFill>
                  <a:schemeClr val="bg1"/>
                </a:solidFill>
                <a:latin typeface="Times New Roman" panose="02020603050405020304" pitchFamily="18" charset="0"/>
                <a:cs typeface="Times New Roman" panose="02020603050405020304" pitchFamily="18" charset="0"/>
              </a:rPr>
              <a:t> fall within slightly </a:t>
            </a:r>
            <a:r>
              <a:rPr lang="en-US" sz="1500" b="1" dirty="0">
                <a:solidFill>
                  <a:schemeClr val="bg1"/>
                </a:solidFill>
                <a:latin typeface="Times New Roman" panose="02020603050405020304" pitchFamily="18" charset="0"/>
                <a:cs typeface="Times New Roman" panose="02020603050405020304" pitchFamily="18" charset="0"/>
              </a:rPr>
              <a:t>narrower price ranges</a:t>
            </a:r>
            <a:r>
              <a:rPr lang="en-US" sz="1500" dirty="0">
                <a:solidFill>
                  <a:schemeClr val="bg1"/>
                </a:solidFill>
                <a:latin typeface="Times New Roman" panose="02020603050405020304" pitchFamily="18" charset="0"/>
                <a:cs typeface="Times New Roman" panose="02020603050405020304" pitchFamily="18" charset="0"/>
              </a:rPr>
              <a:t>.</a:t>
            </a:r>
          </a:p>
        </p:txBody>
      </p:sp>
      <p:pic>
        <p:nvPicPr>
          <p:cNvPr id="14" name="Picture 13" descr="A screen shot of a computer&#10;&#10;Description automatically generated">
            <a:extLst>
              <a:ext uri="{FF2B5EF4-FFF2-40B4-BE49-F238E27FC236}">
                <a16:creationId xmlns:a16="http://schemas.microsoft.com/office/drawing/2014/main" id="{84AF5EED-428C-8A6F-3242-3D919B3A6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737" y="595225"/>
            <a:ext cx="11699371" cy="4770406"/>
          </a:xfrm>
          <a:prstGeom prst="rect">
            <a:avLst/>
          </a:prstGeom>
        </p:spPr>
      </p:pic>
      <p:sp>
        <p:nvSpPr>
          <p:cNvPr id="15" name="TextBox 14">
            <a:extLst>
              <a:ext uri="{FF2B5EF4-FFF2-40B4-BE49-F238E27FC236}">
                <a16:creationId xmlns:a16="http://schemas.microsoft.com/office/drawing/2014/main" id="{3D85D0A6-B28B-DCAE-48BB-A5DA5B104CC5}"/>
              </a:ext>
            </a:extLst>
          </p:cNvPr>
          <p:cNvSpPr txBox="1"/>
          <p:nvPr/>
        </p:nvSpPr>
        <p:spPr>
          <a:xfrm>
            <a:off x="244414" y="112946"/>
            <a:ext cx="11634159" cy="369332"/>
          </a:xfrm>
          <a:prstGeom prst="rect">
            <a:avLst/>
          </a:prstGeom>
          <a:noFill/>
        </p:spPr>
        <p:txBody>
          <a:bodyPr wrap="square" rtlCol="0">
            <a:spAutoFit/>
          </a:bodyPr>
          <a:lstStyle/>
          <a:p>
            <a:pPr algn="ctr"/>
            <a:r>
              <a:rPr lang="en-US" b="1" dirty="0">
                <a:solidFill>
                  <a:srgbClr val="850101"/>
                </a:solidFill>
                <a:latin typeface="Times New Roman" panose="02020603050405020304" pitchFamily="18" charset="0"/>
                <a:cs typeface="Times New Roman" panose="02020603050405020304" pitchFamily="18" charset="0"/>
              </a:rPr>
              <a:t>Q3 -Could Richard find good  ones that hit popular price point of  under $20?---”YES”</a:t>
            </a:r>
            <a:endParaRPr lang="en-IN" b="1" dirty="0">
              <a:solidFill>
                <a:srgbClr val="85010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9504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pic>
        <p:nvPicPr>
          <p:cNvPr id="6" name="Picture 5" descr="A white screen with blue and orange text&#10;&#10;Description automatically generated with medium confidence">
            <a:extLst>
              <a:ext uri="{FF2B5EF4-FFF2-40B4-BE49-F238E27FC236}">
                <a16:creationId xmlns:a16="http://schemas.microsoft.com/office/drawing/2014/main" id="{547DB9EE-1E04-9FD2-DE4A-79D385C92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434" y="757382"/>
            <a:ext cx="11516743" cy="5162061"/>
          </a:xfrm>
          <a:prstGeom prst="rect">
            <a:avLst/>
          </a:prstGeom>
        </p:spPr>
      </p:pic>
      <p:sp>
        <p:nvSpPr>
          <p:cNvPr id="9" name="TextBox 8">
            <a:extLst>
              <a:ext uri="{FF2B5EF4-FFF2-40B4-BE49-F238E27FC236}">
                <a16:creationId xmlns:a16="http://schemas.microsoft.com/office/drawing/2014/main" id="{CA002393-EAD2-9141-29C3-40583C22AFA8}"/>
              </a:ext>
            </a:extLst>
          </p:cNvPr>
          <p:cNvSpPr txBox="1"/>
          <p:nvPr/>
        </p:nvSpPr>
        <p:spPr>
          <a:xfrm>
            <a:off x="232434" y="-165948"/>
            <a:ext cx="11710184" cy="923330"/>
          </a:xfrm>
          <a:prstGeom prst="rect">
            <a:avLst/>
          </a:prstGeom>
          <a:noFill/>
        </p:spPr>
        <p:txBody>
          <a:bodyPr wrap="square" rtlCol="0">
            <a:spAutoFit/>
          </a:bodyPr>
          <a:lstStyle/>
          <a:p>
            <a:endParaRPr lang="en-US" b="1" dirty="0">
              <a:solidFill>
                <a:srgbClr val="850101"/>
              </a:solidFill>
            </a:endParaRPr>
          </a:p>
          <a:p>
            <a:r>
              <a:rPr lang="en-US" b="1" dirty="0">
                <a:solidFill>
                  <a:srgbClr val="850101"/>
                </a:solidFill>
                <a:latin typeface="Times New Roman" panose="02020603050405020304" pitchFamily="18" charset="0"/>
                <a:cs typeface="Times New Roman" panose="02020603050405020304" pitchFamily="18" charset="0"/>
              </a:rPr>
              <a:t>With classic wines such as the traditional French and Italian labels being more difficult to obtain, what alternatives might consumers  be open to trying? Did they need  to think about additional strategies to entice millennials?</a:t>
            </a:r>
            <a:endParaRPr lang="en-IN" b="1" dirty="0">
              <a:solidFill>
                <a:srgbClr val="850101"/>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22BD3387-FA7D-D307-1FA6-014C7742E2D4}"/>
              </a:ext>
            </a:extLst>
          </p:cNvPr>
          <p:cNvSpPr txBox="1"/>
          <p:nvPr/>
        </p:nvSpPr>
        <p:spPr>
          <a:xfrm>
            <a:off x="94891" y="5952226"/>
            <a:ext cx="11930333" cy="830997"/>
          </a:xfrm>
          <a:prstGeom prst="rect">
            <a:avLst/>
          </a:prstGeom>
          <a:noFill/>
        </p:spPr>
        <p:txBody>
          <a:bodyPr wrap="square">
            <a:spAutoFit/>
          </a:bodyPr>
          <a:lstStyle/>
          <a:p>
            <a:r>
              <a:rPr lang="en-US" sz="1600" dirty="0">
                <a:solidFill>
                  <a:schemeClr val="bg1"/>
                </a:solidFill>
                <a:latin typeface="Times New Roman" panose="02020603050405020304" pitchFamily="18" charset="0"/>
                <a:cs typeface="Times New Roman" panose="02020603050405020304" pitchFamily="18" charset="0"/>
              </a:rPr>
              <a:t>We have analyzed wines in the White, Red, and Rosé categories, priced at $20 or less for a 750 ml bottle. </a:t>
            </a:r>
          </a:p>
          <a:p>
            <a:r>
              <a:rPr lang="en-US" sz="1600" dirty="0">
                <a:solidFill>
                  <a:schemeClr val="bg1"/>
                </a:solidFill>
                <a:latin typeface="Times New Roman" panose="02020603050405020304" pitchFamily="18" charset="0"/>
                <a:cs typeface="Times New Roman" panose="02020603050405020304" pitchFamily="18" charset="0"/>
              </a:rPr>
              <a:t>These wines have been further segmented based on the badges they have received. Wines with </a:t>
            </a:r>
            <a:r>
              <a:rPr lang="en-US" sz="1600" b="1" dirty="0">
                <a:solidFill>
                  <a:schemeClr val="bg1"/>
                </a:solidFill>
                <a:latin typeface="Times New Roman" panose="02020603050405020304" pitchFamily="18" charset="0"/>
                <a:cs typeface="Times New Roman" panose="02020603050405020304" pitchFamily="18" charset="0"/>
              </a:rPr>
              <a:t>no badges (NULL)</a:t>
            </a:r>
            <a:r>
              <a:rPr lang="en-US" sz="1600" dirty="0">
                <a:solidFill>
                  <a:schemeClr val="bg1"/>
                </a:solidFill>
                <a:latin typeface="Times New Roman" panose="02020603050405020304" pitchFamily="18" charset="0"/>
                <a:cs typeface="Times New Roman" panose="02020603050405020304" pitchFamily="18" charset="0"/>
              </a:rPr>
              <a:t> can be prioritized for </a:t>
            </a:r>
            <a:r>
              <a:rPr lang="en-US" sz="1600" b="1" dirty="0">
                <a:solidFill>
                  <a:schemeClr val="bg1"/>
                </a:solidFill>
                <a:latin typeface="Times New Roman" panose="02020603050405020304" pitchFamily="18" charset="0"/>
                <a:cs typeface="Times New Roman" panose="02020603050405020304" pitchFamily="18" charset="0"/>
              </a:rPr>
              <a:t>market penetration</a:t>
            </a:r>
            <a:r>
              <a:rPr lang="en-US" sz="1600" dirty="0">
                <a:solidFill>
                  <a:schemeClr val="bg1"/>
                </a:solidFill>
                <a:latin typeface="Times New Roman" panose="02020603050405020304" pitchFamily="18" charset="0"/>
                <a:cs typeface="Times New Roman" panose="02020603050405020304" pitchFamily="18" charset="0"/>
              </a:rPr>
              <a:t>, starting with those that have the </a:t>
            </a:r>
            <a:r>
              <a:rPr lang="en-US" sz="1600" b="1" dirty="0">
                <a:solidFill>
                  <a:schemeClr val="bg1"/>
                </a:solidFill>
                <a:latin typeface="Times New Roman" panose="02020603050405020304" pitchFamily="18" charset="0"/>
                <a:cs typeface="Times New Roman" panose="02020603050405020304" pitchFamily="18" charset="0"/>
              </a:rPr>
              <a:t>highest ratings</a:t>
            </a:r>
            <a:r>
              <a:rPr lang="en-US" sz="1600" dirty="0">
                <a:solidFill>
                  <a:schemeClr val="bg1"/>
                </a:solidFill>
                <a:latin typeface="Times New Roman" panose="02020603050405020304" pitchFamily="18" charset="0"/>
                <a:cs typeface="Times New Roman" panose="02020603050405020304" pitchFamily="18" charset="0"/>
              </a:rPr>
              <a:t>, as they may offer untapped potential despite lacking formal recognition.</a:t>
            </a:r>
            <a:endParaRPr lang="en-IN"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34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pic>
        <p:nvPicPr>
          <p:cNvPr id="6" name="Picture 5" descr="A white sheet with many different colored squares&#10;&#10;Description automatically generated with medium confidence">
            <a:extLst>
              <a:ext uri="{FF2B5EF4-FFF2-40B4-BE49-F238E27FC236}">
                <a16:creationId xmlns:a16="http://schemas.microsoft.com/office/drawing/2014/main" id="{FFFE5C05-BD8C-E3D3-5AB9-F0A1A721E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995" y="909751"/>
            <a:ext cx="11702854" cy="5948249"/>
          </a:xfrm>
          <a:prstGeom prst="rect">
            <a:avLst/>
          </a:prstGeom>
        </p:spPr>
      </p:pic>
      <p:sp>
        <p:nvSpPr>
          <p:cNvPr id="9" name="TextBox 8">
            <a:extLst>
              <a:ext uri="{FF2B5EF4-FFF2-40B4-BE49-F238E27FC236}">
                <a16:creationId xmlns:a16="http://schemas.microsoft.com/office/drawing/2014/main" id="{67816F59-A6C6-9D97-3389-4D34D80E6737}"/>
              </a:ext>
            </a:extLst>
          </p:cNvPr>
          <p:cNvSpPr txBox="1"/>
          <p:nvPr/>
        </p:nvSpPr>
        <p:spPr>
          <a:xfrm>
            <a:off x="299681" y="180140"/>
            <a:ext cx="1145309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Initial graph of previous recommendations, where filters has been applied on wine style-(</a:t>
            </a:r>
            <a:r>
              <a:rPr lang="en-US" b="1" dirty="0">
                <a:solidFill>
                  <a:schemeClr val="bg1"/>
                </a:solidFill>
                <a:latin typeface="Times New Roman" panose="02020603050405020304" pitchFamily="18" charset="0"/>
                <a:cs typeface="Times New Roman" panose="02020603050405020304" pitchFamily="18" charset="0"/>
              </a:rPr>
              <a:t>RED,ROSE,WHITE</a:t>
            </a:r>
            <a:r>
              <a:rPr lang="en-US" b="1" dirty="0">
                <a:latin typeface="Times New Roman" panose="02020603050405020304" pitchFamily="18" charset="0"/>
                <a:cs typeface="Times New Roman" panose="02020603050405020304" pitchFamily="18" charset="0"/>
              </a:rPr>
              <a:t>), Bottle Size- 750 ml, Avg. Price &lt;=20$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996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pic>
        <p:nvPicPr>
          <p:cNvPr id="4" name="Picture 3" descr="A graph of lines and numbers&#10;&#10;Description automatically generated with medium confidence">
            <a:extLst>
              <a:ext uri="{FF2B5EF4-FFF2-40B4-BE49-F238E27FC236}">
                <a16:creationId xmlns:a16="http://schemas.microsoft.com/office/drawing/2014/main" id="{770F0181-4F41-B445-C732-A00C5187E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752" y="658367"/>
            <a:ext cx="11581061" cy="5550409"/>
          </a:xfrm>
          <a:prstGeom prst="rect">
            <a:avLst/>
          </a:prstGeom>
        </p:spPr>
      </p:pic>
      <p:sp>
        <p:nvSpPr>
          <p:cNvPr id="7" name="TextBox 6">
            <a:extLst>
              <a:ext uri="{FF2B5EF4-FFF2-40B4-BE49-F238E27FC236}">
                <a16:creationId xmlns:a16="http://schemas.microsoft.com/office/drawing/2014/main" id="{67D218D8-E806-83EB-DF47-088F6B9A0C15}"/>
              </a:ext>
            </a:extLst>
          </p:cNvPr>
          <p:cNvSpPr txBox="1"/>
          <p:nvPr/>
        </p:nvSpPr>
        <p:spPr>
          <a:xfrm>
            <a:off x="309186" y="6199633"/>
            <a:ext cx="11760893" cy="646331"/>
          </a:xfrm>
          <a:prstGeom prst="rect">
            <a:avLst/>
          </a:prstGeom>
          <a:noFill/>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Market Trend</a:t>
            </a:r>
            <a:r>
              <a:rPr lang="en-US" dirty="0">
                <a:solidFill>
                  <a:schemeClr val="bg1"/>
                </a:solidFill>
                <a:latin typeface="Times New Roman" panose="02020603050405020304" pitchFamily="18" charset="0"/>
                <a:cs typeface="Times New Roman" panose="02020603050405020304" pitchFamily="18" charset="0"/>
              </a:rPr>
              <a:t>: Over the past two decades, </a:t>
            </a:r>
            <a:r>
              <a:rPr lang="en-US" b="1" dirty="0">
                <a:solidFill>
                  <a:schemeClr val="bg1"/>
                </a:solidFill>
                <a:latin typeface="Times New Roman" panose="02020603050405020304" pitchFamily="18" charset="0"/>
                <a:cs typeface="Times New Roman" panose="02020603050405020304" pitchFamily="18" charset="0"/>
              </a:rPr>
              <a:t>Red wine has maintained a consistent alcohol content</a:t>
            </a:r>
            <a:r>
              <a:rPr lang="en-US" dirty="0">
                <a:solidFill>
                  <a:schemeClr val="bg1"/>
                </a:solidFill>
                <a:latin typeface="Times New Roman" panose="02020603050405020304" pitchFamily="18" charset="0"/>
                <a:cs typeface="Times New Roman" panose="02020603050405020304" pitchFamily="18" charset="0"/>
              </a:rPr>
              <a:t>, whereas </a:t>
            </a:r>
            <a:r>
              <a:rPr lang="en-US" b="1" dirty="0">
                <a:solidFill>
                  <a:schemeClr val="bg1"/>
                </a:solidFill>
                <a:latin typeface="Times New Roman" panose="02020603050405020304" pitchFamily="18" charset="0"/>
                <a:cs typeface="Times New Roman" panose="02020603050405020304" pitchFamily="18" charset="0"/>
              </a:rPr>
              <a:t>White and Rosé wines have shown a gradual decrease</a:t>
            </a:r>
            <a:r>
              <a:rPr lang="en-US" dirty="0">
                <a:solidFill>
                  <a:schemeClr val="bg1"/>
                </a:solidFill>
                <a:latin typeface="Times New Roman" panose="02020603050405020304" pitchFamily="18" charset="0"/>
                <a:cs typeface="Times New Roman" panose="02020603050405020304" pitchFamily="18" charset="0"/>
              </a:rPr>
              <a:t> in alcohol content over the years.</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3B0D0C1-15B7-11D4-68FC-C632EC9C40B2}"/>
              </a:ext>
            </a:extLst>
          </p:cNvPr>
          <p:cNvSpPr txBox="1"/>
          <p:nvPr/>
        </p:nvSpPr>
        <p:spPr>
          <a:xfrm>
            <a:off x="713232" y="182880"/>
            <a:ext cx="9866376" cy="369332"/>
          </a:xfrm>
          <a:prstGeom prst="rect">
            <a:avLst/>
          </a:prstGeom>
          <a:noFill/>
        </p:spPr>
        <p:txBody>
          <a:bodyPr wrap="square" rtlCol="0">
            <a:spAutoFit/>
          </a:bodyPr>
          <a:lstStyle/>
          <a:p>
            <a:pPr algn="ctr"/>
            <a:r>
              <a:rPr lang="en-US" b="1" dirty="0">
                <a:solidFill>
                  <a:srgbClr val="850101"/>
                </a:solidFill>
                <a:latin typeface="Times New Roman" panose="02020603050405020304" pitchFamily="18" charset="0"/>
                <a:cs typeface="Times New Roman" panose="02020603050405020304" pitchFamily="18" charset="0"/>
              </a:rPr>
              <a:t>Q-5 What other wine trends would it be beneficial to consider?</a:t>
            </a:r>
            <a:endParaRPr lang="en-IN" b="1" dirty="0">
              <a:solidFill>
                <a:srgbClr val="85010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46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0" y="0"/>
            <a:ext cx="12191981" cy="6987396"/>
          </a:xfrm>
          <a:prstGeom prst="rect">
            <a:avLst/>
          </a:prstGeom>
        </p:spPr>
      </p:pic>
      <p:pic>
        <p:nvPicPr>
          <p:cNvPr id="4" name="Picture 3" descr="A screenshot of a graph&#10;&#10;Description automatically generated">
            <a:extLst>
              <a:ext uri="{FF2B5EF4-FFF2-40B4-BE49-F238E27FC236}">
                <a16:creationId xmlns:a16="http://schemas.microsoft.com/office/drawing/2014/main" id="{3411E8D0-7AA4-A340-2550-1234D1EE7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 y="-38124"/>
            <a:ext cx="12188952" cy="5326464"/>
          </a:xfrm>
          <a:prstGeom prst="rect">
            <a:avLst/>
          </a:prstGeom>
        </p:spPr>
      </p:pic>
      <p:sp>
        <p:nvSpPr>
          <p:cNvPr id="7" name="TextBox 6">
            <a:extLst>
              <a:ext uri="{FF2B5EF4-FFF2-40B4-BE49-F238E27FC236}">
                <a16:creationId xmlns:a16="http://schemas.microsoft.com/office/drawing/2014/main" id="{7161019A-F81A-5A18-23EF-48E0685EF2CF}"/>
              </a:ext>
            </a:extLst>
          </p:cNvPr>
          <p:cNvSpPr txBox="1"/>
          <p:nvPr/>
        </p:nvSpPr>
        <p:spPr>
          <a:xfrm>
            <a:off x="-1505" y="5404104"/>
            <a:ext cx="12188952" cy="1477328"/>
          </a:xfrm>
          <a:prstGeom prst="rect">
            <a:avLst/>
          </a:prstGeom>
          <a:noFill/>
        </p:spPr>
        <p:txBody>
          <a:bodyPr wrap="square">
            <a:spAutoFit/>
          </a:bodyPr>
          <a:lstStyle/>
          <a:p>
            <a:r>
              <a:rPr lang="en-US" sz="1500" dirty="0">
                <a:solidFill>
                  <a:schemeClr val="bg1"/>
                </a:solidFill>
                <a:latin typeface="Times New Roman" panose="02020603050405020304" pitchFamily="18" charset="0"/>
                <a:cs typeface="Times New Roman" panose="02020603050405020304" pitchFamily="18" charset="0"/>
              </a:rPr>
              <a:t>From the last graph, we focused on four wine styles.</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Based on the </a:t>
            </a:r>
            <a:r>
              <a:rPr lang="en-US" sz="1500" b="1" dirty="0">
                <a:solidFill>
                  <a:schemeClr val="bg1"/>
                </a:solidFill>
                <a:latin typeface="Times New Roman" panose="02020603050405020304" pitchFamily="18" charset="0"/>
                <a:cs typeface="Times New Roman" panose="02020603050405020304" pitchFamily="18" charset="0"/>
              </a:rPr>
              <a:t>average price point</a:t>
            </a:r>
            <a:r>
              <a:rPr lang="en-US" sz="1500" dirty="0">
                <a:solidFill>
                  <a:schemeClr val="bg1"/>
                </a:solidFill>
                <a:latin typeface="Times New Roman" panose="02020603050405020304" pitchFamily="18" charset="0"/>
                <a:cs typeface="Times New Roman" panose="02020603050405020304" pitchFamily="18" charset="0"/>
              </a:rPr>
              <a:t>, the </a:t>
            </a:r>
            <a:r>
              <a:rPr lang="en-US" sz="1500" b="1" dirty="0">
                <a:solidFill>
                  <a:schemeClr val="bg1"/>
                </a:solidFill>
                <a:latin typeface="Times New Roman" panose="02020603050405020304" pitchFamily="18" charset="0"/>
                <a:cs typeface="Times New Roman" panose="02020603050405020304" pitchFamily="18" charset="0"/>
              </a:rPr>
              <a:t>preferred wine styles</a:t>
            </a:r>
            <a:r>
              <a:rPr lang="en-US" sz="1500" dirty="0">
                <a:solidFill>
                  <a:schemeClr val="bg1"/>
                </a:solidFill>
                <a:latin typeface="Times New Roman" panose="02020603050405020304" pitchFamily="18" charset="0"/>
                <a:cs typeface="Times New Roman" panose="02020603050405020304" pitchFamily="18" charset="0"/>
              </a:rPr>
              <a:t> are </a:t>
            </a:r>
            <a:r>
              <a:rPr lang="en-US" sz="1500" b="1" dirty="0">
                <a:solidFill>
                  <a:schemeClr val="bg1"/>
                </a:solidFill>
                <a:latin typeface="Times New Roman" panose="02020603050405020304" pitchFamily="18" charset="0"/>
                <a:cs typeface="Times New Roman" panose="02020603050405020304" pitchFamily="18" charset="0"/>
              </a:rPr>
              <a:t>Rosé, White, and Red</a:t>
            </a:r>
            <a:r>
              <a:rPr lang="en-US" sz="1500" dirty="0">
                <a:solidFill>
                  <a:schemeClr val="bg1"/>
                </a:solidFill>
                <a:latin typeface="Times New Roman" panose="02020603050405020304" pitchFamily="18" charset="0"/>
                <a:cs typeface="Times New Roman" panose="02020603050405020304" pitchFamily="18" charset="0"/>
              </a:rPr>
              <a:t>.</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Although </a:t>
            </a:r>
            <a:r>
              <a:rPr lang="en-US" sz="1500" b="1" dirty="0">
                <a:solidFill>
                  <a:schemeClr val="bg1"/>
                </a:solidFill>
                <a:latin typeface="Times New Roman" panose="02020603050405020304" pitchFamily="18" charset="0"/>
                <a:cs typeface="Times New Roman" panose="02020603050405020304" pitchFamily="18" charset="0"/>
              </a:rPr>
              <a:t>Red wines</a:t>
            </a:r>
            <a:r>
              <a:rPr lang="en-US" sz="1500" dirty="0">
                <a:solidFill>
                  <a:schemeClr val="bg1"/>
                </a:solidFill>
                <a:latin typeface="Times New Roman" panose="02020603050405020304" pitchFamily="18" charset="0"/>
                <a:cs typeface="Times New Roman" panose="02020603050405020304" pitchFamily="18" charset="0"/>
              </a:rPr>
              <a:t> are priced higher, they are still worth considering due to the </a:t>
            </a:r>
            <a:r>
              <a:rPr lang="en-US" sz="1500" b="1" dirty="0">
                <a:solidFill>
                  <a:schemeClr val="bg1"/>
                </a:solidFill>
                <a:latin typeface="Times New Roman" panose="02020603050405020304" pitchFamily="18" charset="0"/>
                <a:cs typeface="Times New Roman" panose="02020603050405020304" pitchFamily="18" charset="0"/>
              </a:rPr>
              <a:t>wider variety of available flavors</a:t>
            </a:r>
            <a:r>
              <a:rPr lang="en-US" sz="1500" dirty="0">
                <a:solidFill>
                  <a:schemeClr val="bg1"/>
                </a:solidFill>
                <a:latin typeface="Times New Roman" panose="02020603050405020304" pitchFamily="18" charset="0"/>
                <a:cs typeface="Times New Roman" panose="02020603050405020304" pitchFamily="18" charset="0"/>
              </a:rPr>
              <a:t>, which may indicate higher market demand.</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We are </a:t>
            </a:r>
            <a:r>
              <a:rPr lang="en-US" sz="1500" b="1" dirty="0">
                <a:solidFill>
                  <a:schemeClr val="bg1"/>
                </a:solidFill>
                <a:latin typeface="Times New Roman" panose="02020603050405020304" pitchFamily="18" charset="0"/>
                <a:cs typeface="Times New Roman" panose="02020603050405020304" pitchFamily="18" charset="0"/>
              </a:rPr>
              <a:t>not considering Dessert, Fortified, and Port wines</a:t>
            </a:r>
            <a:r>
              <a:rPr lang="en-US" sz="1500" dirty="0">
                <a:solidFill>
                  <a:schemeClr val="bg1"/>
                </a:solidFill>
                <a:latin typeface="Times New Roman" panose="02020603050405020304" pitchFamily="18" charset="0"/>
                <a:cs typeface="Times New Roman" panose="02020603050405020304" pitchFamily="18" charset="0"/>
              </a:rPr>
              <a:t> as they have limited flavor availability.</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a:t>
            </a:r>
            <a:r>
              <a:rPr lang="en-US" sz="1500" i="1" dirty="0">
                <a:solidFill>
                  <a:schemeClr val="bg1"/>
                </a:solidFill>
                <a:latin typeface="Times New Roman" panose="02020603050405020304" pitchFamily="18" charset="0"/>
                <a:cs typeface="Times New Roman" panose="02020603050405020304" pitchFamily="18" charset="0"/>
              </a:rPr>
              <a:t>Since sales data is not available, we are using flavor variety as a proxy for market demand.</a:t>
            </a:r>
            <a:r>
              <a:rPr lang="en-US" sz="1500" dirty="0">
                <a:solidFill>
                  <a:schemeClr val="bg1"/>
                </a:solidFill>
                <a:latin typeface="Times New Roman" panose="02020603050405020304" pitchFamily="18" charset="0"/>
                <a:cs typeface="Times New Roman" panose="02020603050405020304" pitchFamily="18" charset="0"/>
              </a:rPr>
              <a:t>)</a:t>
            </a:r>
            <a:endParaRPr lang="en-IN" sz="1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538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36488" y="0"/>
            <a:ext cx="12191981" cy="6987396"/>
          </a:xfrm>
          <a:prstGeom prst="rect">
            <a:avLst/>
          </a:prstGeom>
        </p:spPr>
      </p:pic>
      <p:pic>
        <p:nvPicPr>
          <p:cNvPr id="4" name="Picture 3" descr="A white grid with pink dots&#10;&#10;Description automatically generated">
            <a:extLst>
              <a:ext uri="{FF2B5EF4-FFF2-40B4-BE49-F238E27FC236}">
                <a16:creationId xmlns:a16="http://schemas.microsoft.com/office/drawing/2014/main" id="{ABC53591-CAA5-B302-CA22-F3C295231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6256" y="2279018"/>
            <a:ext cx="3021917" cy="2123191"/>
          </a:xfrm>
          <a:prstGeom prst="rect">
            <a:avLst/>
          </a:prstGeom>
        </p:spPr>
      </p:pic>
      <p:pic>
        <p:nvPicPr>
          <p:cNvPr id="6" name="Picture 5" descr="A white grid with pink dots&#10;&#10;Description automatically generated">
            <a:extLst>
              <a:ext uri="{FF2B5EF4-FFF2-40B4-BE49-F238E27FC236}">
                <a16:creationId xmlns:a16="http://schemas.microsoft.com/office/drawing/2014/main" id="{C55C3977-C940-3632-25DB-9E7F12435D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3683" y="113310"/>
            <a:ext cx="2855623" cy="20189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descr="A screen shot of a graph&#10;&#10;Description automatically generated">
            <a:extLst>
              <a:ext uri="{FF2B5EF4-FFF2-40B4-BE49-F238E27FC236}">
                <a16:creationId xmlns:a16="http://schemas.microsoft.com/office/drawing/2014/main" id="{7DF1546D-7428-0EF0-04A7-26F3C587B1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366" y="113310"/>
            <a:ext cx="8926021" cy="54257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descr="A white grid with pink dots&#10;&#10;Description automatically generated">
            <a:extLst>
              <a:ext uri="{FF2B5EF4-FFF2-40B4-BE49-F238E27FC236}">
                <a16:creationId xmlns:a16="http://schemas.microsoft.com/office/drawing/2014/main" id="{CC9EB1E2-2B2C-6AEE-695A-E539CD1DA4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95251" y="4516244"/>
            <a:ext cx="2983925" cy="2123191"/>
          </a:xfrm>
          <a:prstGeom prst="rect">
            <a:avLst/>
          </a:prstGeom>
        </p:spPr>
      </p:pic>
      <p:sp>
        <p:nvSpPr>
          <p:cNvPr id="13" name="TextBox 12">
            <a:extLst>
              <a:ext uri="{FF2B5EF4-FFF2-40B4-BE49-F238E27FC236}">
                <a16:creationId xmlns:a16="http://schemas.microsoft.com/office/drawing/2014/main" id="{5FE19B1C-F8B6-2D44-ECD3-0FB7D587AB63}"/>
              </a:ext>
            </a:extLst>
          </p:cNvPr>
          <p:cNvSpPr txBox="1"/>
          <p:nvPr/>
        </p:nvSpPr>
        <p:spPr>
          <a:xfrm>
            <a:off x="240030" y="5657671"/>
            <a:ext cx="8538210" cy="1246495"/>
          </a:xfrm>
          <a:prstGeom prst="rect">
            <a:avLst/>
          </a:prstGeom>
          <a:noFill/>
        </p:spPr>
        <p:txBody>
          <a:bodyPr wrap="square">
            <a:spAutoFit/>
          </a:bodyPr>
          <a:lstStyle/>
          <a:p>
            <a:r>
              <a:rPr lang="en-US" sz="1500" dirty="0">
                <a:solidFill>
                  <a:schemeClr val="bg1"/>
                </a:solidFill>
                <a:latin typeface="Times New Roman" panose="02020603050405020304" pitchFamily="18" charset="0"/>
                <a:cs typeface="Times New Roman" panose="02020603050405020304" pitchFamily="18" charset="0"/>
              </a:rPr>
              <a:t>From this, it is evident that </a:t>
            </a:r>
            <a:r>
              <a:rPr lang="en-US" sz="1500" b="1" dirty="0">
                <a:solidFill>
                  <a:schemeClr val="bg1"/>
                </a:solidFill>
                <a:latin typeface="Times New Roman" panose="02020603050405020304" pitchFamily="18" charset="0"/>
                <a:cs typeface="Times New Roman" panose="02020603050405020304" pitchFamily="18" charset="0"/>
              </a:rPr>
              <a:t>wines with lower prices and higher ratings are available</a:t>
            </a:r>
            <a:r>
              <a:rPr lang="en-US" sz="1500" dirty="0">
                <a:solidFill>
                  <a:schemeClr val="bg1"/>
                </a:solidFill>
                <a:latin typeface="Times New Roman" panose="02020603050405020304" pitchFamily="18" charset="0"/>
                <a:cs typeface="Times New Roman" panose="02020603050405020304" pitchFamily="18" charset="0"/>
              </a:rPr>
              <a:t>, offering good value options. </a:t>
            </a:r>
            <a:r>
              <a:rPr lang="en-US" sz="1500" b="1" dirty="0">
                <a:solidFill>
                  <a:schemeClr val="bg1"/>
                </a:solidFill>
                <a:latin typeface="Times New Roman" panose="02020603050405020304" pitchFamily="18" charset="0"/>
                <a:cs typeface="Times New Roman" panose="02020603050405020304" pitchFamily="18" charset="0"/>
              </a:rPr>
              <a:t>Red wine dominates the market share</a:t>
            </a:r>
            <a:r>
              <a:rPr lang="en-US" sz="1500" dirty="0">
                <a:solidFill>
                  <a:schemeClr val="bg1"/>
                </a:solidFill>
                <a:latin typeface="Times New Roman" panose="02020603050405020304" pitchFamily="18" charset="0"/>
                <a:cs typeface="Times New Roman" panose="02020603050405020304" pitchFamily="18" charset="0"/>
              </a:rPr>
              <a:t> and is </a:t>
            </a:r>
            <a:r>
              <a:rPr lang="en-US" sz="1500" b="1" dirty="0">
                <a:solidFill>
                  <a:schemeClr val="bg1"/>
                </a:solidFill>
                <a:latin typeface="Times New Roman" panose="02020603050405020304" pitchFamily="18" charset="0"/>
                <a:cs typeface="Times New Roman" panose="02020603050405020304" pitchFamily="18" charset="0"/>
              </a:rPr>
              <a:t>available across all price points</a:t>
            </a:r>
            <a:r>
              <a:rPr lang="en-US" sz="1500" dirty="0">
                <a:solidFill>
                  <a:schemeClr val="bg1"/>
                </a:solidFill>
                <a:latin typeface="Times New Roman" panose="02020603050405020304" pitchFamily="18" charset="0"/>
                <a:cs typeface="Times New Roman" panose="02020603050405020304" pitchFamily="18" charset="0"/>
              </a:rPr>
              <a:t>, making it a versatile choice for consumers.</a:t>
            </a:r>
            <a:br>
              <a:rPr lang="en-US" sz="1500" dirty="0">
                <a:solidFill>
                  <a:schemeClr val="bg1"/>
                </a:solidFill>
                <a:latin typeface="Times New Roman" panose="02020603050405020304" pitchFamily="18" charset="0"/>
                <a:cs typeface="Times New Roman" panose="02020603050405020304" pitchFamily="18" charset="0"/>
              </a:rPr>
            </a:br>
            <a:r>
              <a:rPr lang="en-US" sz="1500" dirty="0">
                <a:solidFill>
                  <a:schemeClr val="bg1"/>
                </a:solidFill>
                <a:latin typeface="Times New Roman" panose="02020603050405020304" pitchFamily="18" charset="0"/>
                <a:cs typeface="Times New Roman" panose="02020603050405020304" pitchFamily="18" charset="0"/>
              </a:rPr>
              <a:t>Additionally, </a:t>
            </a:r>
            <a:r>
              <a:rPr lang="en-US" sz="1500" b="1" dirty="0">
                <a:solidFill>
                  <a:schemeClr val="bg1"/>
                </a:solidFill>
                <a:latin typeface="Times New Roman" panose="02020603050405020304" pitchFamily="18" charset="0"/>
                <a:cs typeface="Times New Roman" panose="02020603050405020304" pitchFamily="18" charset="0"/>
              </a:rPr>
              <a:t>wines with higher ratings tend to be priced higher</a:t>
            </a:r>
            <a:r>
              <a:rPr lang="en-US" sz="1500" dirty="0">
                <a:solidFill>
                  <a:schemeClr val="bg1"/>
                </a:solidFill>
                <a:latin typeface="Times New Roman" panose="02020603050405020304" pitchFamily="18" charset="0"/>
                <a:cs typeface="Times New Roman" panose="02020603050405020304" pitchFamily="18" charset="0"/>
              </a:rPr>
              <a:t>, indicating a correlation between quality perception and pricing.</a:t>
            </a:r>
            <a:endParaRPr lang="en-IN" sz="1500" b="1" dirty="0">
              <a:solidFill>
                <a:schemeClr val="bg1"/>
              </a:solidFill>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6E196E53-C535-999A-38A0-B8FD2F0124F8}"/>
              </a:ext>
            </a:extLst>
          </p:cNvPr>
          <p:cNvCxnSpPr/>
          <p:nvPr/>
        </p:nvCxnSpPr>
        <p:spPr>
          <a:xfrm flipV="1">
            <a:off x="7671812" y="1344168"/>
            <a:ext cx="2286000" cy="57607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7" name="Straight Arrow Connector 16">
            <a:extLst>
              <a:ext uri="{FF2B5EF4-FFF2-40B4-BE49-F238E27FC236}">
                <a16:creationId xmlns:a16="http://schemas.microsoft.com/office/drawing/2014/main" id="{C16EC6F9-8A99-B9FD-37F8-E00E89F1752D}"/>
              </a:ext>
            </a:extLst>
          </p:cNvPr>
          <p:cNvCxnSpPr>
            <a:cxnSpLocks/>
          </p:cNvCxnSpPr>
          <p:nvPr/>
        </p:nvCxnSpPr>
        <p:spPr>
          <a:xfrm>
            <a:off x="7671814" y="1920240"/>
            <a:ext cx="1664210" cy="17099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1CEFF083-BB14-1D24-2084-54B9D6D859A3}"/>
              </a:ext>
            </a:extLst>
          </p:cNvPr>
          <p:cNvCxnSpPr>
            <a:cxnSpLocks/>
          </p:cNvCxnSpPr>
          <p:nvPr/>
        </p:nvCxnSpPr>
        <p:spPr>
          <a:xfrm>
            <a:off x="7671816" y="1920240"/>
            <a:ext cx="1865376" cy="36576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2756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7121" y="-45720"/>
            <a:ext cx="12191981" cy="6987396"/>
          </a:xfrm>
          <a:prstGeom prst="rect">
            <a:avLst/>
          </a:prstGeom>
        </p:spPr>
      </p:pic>
      <p:pic>
        <p:nvPicPr>
          <p:cNvPr id="4" name="Picture 3" descr="A diagram of different types of wine&#10;&#10;Description automatically generated">
            <a:extLst>
              <a:ext uri="{FF2B5EF4-FFF2-40B4-BE49-F238E27FC236}">
                <a16:creationId xmlns:a16="http://schemas.microsoft.com/office/drawing/2014/main" id="{0ECBE174-2D94-54BD-244C-68D16D7A8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263" y="576072"/>
            <a:ext cx="10186417" cy="5568696"/>
          </a:xfrm>
          <a:prstGeom prst="rect">
            <a:avLst/>
          </a:prstGeom>
        </p:spPr>
      </p:pic>
      <p:sp>
        <p:nvSpPr>
          <p:cNvPr id="7" name="TextBox 6">
            <a:extLst>
              <a:ext uri="{FF2B5EF4-FFF2-40B4-BE49-F238E27FC236}">
                <a16:creationId xmlns:a16="http://schemas.microsoft.com/office/drawing/2014/main" id="{980F8935-3CAF-6BCD-BE5D-741C77009A52}"/>
              </a:ext>
            </a:extLst>
          </p:cNvPr>
          <p:cNvSpPr txBox="1"/>
          <p:nvPr/>
        </p:nvSpPr>
        <p:spPr>
          <a:xfrm>
            <a:off x="164591" y="6211669"/>
            <a:ext cx="11638057" cy="646331"/>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Based on grape varieties, </a:t>
            </a:r>
            <a:r>
              <a:rPr lang="en-US" b="1" dirty="0">
                <a:solidFill>
                  <a:schemeClr val="bg1"/>
                </a:solidFill>
                <a:latin typeface="Times New Roman" panose="02020603050405020304" pitchFamily="18" charset="0"/>
                <a:cs typeface="Times New Roman" panose="02020603050405020304" pitchFamily="18" charset="0"/>
              </a:rPr>
              <a:t>Red, White, and Rosé wines remain the most prominent styles</a:t>
            </a:r>
            <a:r>
              <a:rPr lang="en-US" dirty="0">
                <a:solidFill>
                  <a:schemeClr val="bg1"/>
                </a:solidFill>
                <a:latin typeface="Times New Roman" panose="02020603050405020304" pitchFamily="18" charset="0"/>
                <a:cs typeface="Times New Roman" panose="02020603050405020304" pitchFamily="18" charset="0"/>
              </a:rPr>
              <a:t>. Among them, </a:t>
            </a:r>
            <a:r>
              <a:rPr lang="en-US" b="1" dirty="0">
                <a:solidFill>
                  <a:schemeClr val="bg1"/>
                </a:solidFill>
                <a:latin typeface="Times New Roman" panose="02020603050405020304" pitchFamily="18" charset="0"/>
                <a:cs typeface="Times New Roman" panose="02020603050405020304" pitchFamily="18" charset="0"/>
              </a:rPr>
              <a:t>Pinot Noir (Red)</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Chardonnay (White)</a:t>
            </a:r>
            <a:r>
              <a:rPr lang="en-US" dirty="0">
                <a:solidFill>
                  <a:schemeClr val="bg1"/>
                </a:solidFill>
                <a:latin typeface="Times New Roman" panose="02020603050405020304" pitchFamily="18" charset="0"/>
                <a:cs typeface="Times New Roman" panose="02020603050405020304" pitchFamily="18" charset="0"/>
              </a:rPr>
              <a:t> are the top contributors in their respective categories.</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2687865-70C9-A1A0-5047-D95A201F8606}"/>
              </a:ext>
            </a:extLst>
          </p:cNvPr>
          <p:cNvSpPr txBox="1"/>
          <p:nvPr/>
        </p:nvSpPr>
        <p:spPr>
          <a:xfrm>
            <a:off x="786384" y="-11376"/>
            <a:ext cx="11091672" cy="461665"/>
          </a:xfrm>
          <a:prstGeom prst="rect">
            <a:avLst/>
          </a:prstGeom>
          <a:noFill/>
        </p:spPr>
        <p:txBody>
          <a:bodyPr wrap="square" rtlCol="0">
            <a:spAutoFit/>
          </a:bodyPr>
          <a:lstStyle/>
          <a:p>
            <a:pPr algn="ctr"/>
            <a:r>
              <a:rPr lang="en-IN" sz="2400" b="1" dirty="0">
                <a:solidFill>
                  <a:srgbClr val="C00000"/>
                </a:solidFill>
                <a:latin typeface="Times New Roman" panose="02020603050405020304" pitchFamily="18" charset="0"/>
                <a:cs typeface="Times New Roman" panose="02020603050405020304" pitchFamily="18" charset="0"/>
              </a:rPr>
              <a:t>Bubble Graph: Wine Style</a:t>
            </a:r>
          </a:p>
        </p:txBody>
      </p:sp>
    </p:spTree>
    <p:extLst>
      <p:ext uri="{BB962C8B-B14F-4D97-AF65-F5344CB8AC3E}">
        <p14:creationId xmlns:p14="http://schemas.microsoft.com/office/powerpoint/2010/main" val="2338701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9804" y="14371"/>
            <a:ext cx="12191981" cy="6987396"/>
          </a:xfrm>
          <a:prstGeom prst="rect">
            <a:avLst/>
          </a:prstGeom>
        </p:spPr>
      </p:pic>
      <p:pic>
        <p:nvPicPr>
          <p:cNvPr id="4" name="Picture 3" descr="A graph with red and white lines&#10;&#10;Description automatically generated">
            <a:extLst>
              <a:ext uri="{FF2B5EF4-FFF2-40B4-BE49-F238E27FC236}">
                <a16:creationId xmlns:a16="http://schemas.microsoft.com/office/drawing/2014/main" id="{F9CC0497-2E2E-7B5D-1386-9C7B24501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447" y="724619"/>
            <a:ext cx="11841481" cy="5051911"/>
          </a:xfrm>
          <a:prstGeom prst="rect">
            <a:avLst/>
          </a:prstGeom>
        </p:spPr>
      </p:pic>
      <p:sp>
        <p:nvSpPr>
          <p:cNvPr id="7" name="TextBox 6">
            <a:extLst>
              <a:ext uri="{FF2B5EF4-FFF2-40B4-BE49-F238E27FC236}">
                <a16:creationId xmlns:a16="http://schemas.microsoft.com/office/drawing/2014/main" id="{53497ECA-1F17-7565-7870-2C2C633BA08A}"/>
              </a:ext>
            </a:extLst>
          </p:cNvPr>
          <p:cNvSpPr txBox="1"/>
          <p:nvPr/>
        </p:nvSpPr>
        <p:spPr>
          <a:xfrm>
            <a:off x="47254" y="5911704"/>
            <a:ext cx="1219502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Times New Roman" panose="02020603050405020304" pitchFamily="18" charset="0"/>
                <a:cs typeface="Times New Roman" panose="02020603050405020304" pitchFamily="18" charset="0"/>
              </a:rPr>
              <a:t>Since 2008, there has been a noticeable increase in the </a:t>
            </a:r>
            <a:r>
              <a:rPr lang="en-US" sz="1600" b="1" dirty="0">
                <a:solidFill>
                  <a:schemeClr val="bg1"/>
                </a:solidFill>
                <a:latin typeface="Times New Roman" panose="02020603050405020304" pitchFamily="18" charset="0"/>
                <a:cs typeface="Times New Roman" panose="02020603050405020304" pitchFamily="18" charset="0"/>
              </a:rPr>
              <a:t>preservation of Red wine</a:t>
            </a:r>
            <a:r>
              <a:rPr lang="en-US" sz="1600" dirty="0">
                <a:solidFill>
                  <a:schemeClr val="bg1"/>
                </a:solidFill>
                <a:latin typeface="Times New Roman" panose="02020603050405020304" pitchFamily="18" charset="0"/>
                <a:cs typeface="Times New Roman" panose="02020603050405020304" pitchFamily="18" charset="0"/>
              </a:rPr>
              <a:t>.</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Around </a:t>
            </a:r>
            <a:r>
              <a:rPr lang="en-US" sz="1600" b="1" dirty="0">
                <a:solidFill>
                  <a:schemeClr val="bg1"/>
                </a:solidFill>
                <a:latin typeface="Times New Roman" panose="02020603050405020304" pitchFamily="18" charset="0"/>
                <a:cs typeface="Times New Roman" panose="02020603050405020304" pitchFamily="18" charset="0"/>
              </a:rPr>
              <a:t>2017 and 2018</a:t>
            </a:r>
            <a:r>
              <a:rPr lang="en-US" sz="1600" dirty="0">
                <a:solidFill>
                  <a:schemeClr val="bg1"/>
                </a:solidFill>
                <a:latin typeface="Times New Roman" panose="02020603050405020304" pitchFamily="18" charset="0"/>
                <a:cs typeface="Times New Roman" panose="02020603050405020304" pitchFamily="18" charset="0"/>
              </a:rPr>
              <a:t>, all wine types saw the </a:t>
            </a:r>
            <a:r>
              <a:rPr lang="en-US" sz="1600" b="1" dirty="0">
                <a:solidFill>
                  <a:schemeClr val="bg1"/>
                </a:solidFill>
                <a:latin typeface="Times New Roman" panose="02020603050405020304" pitchFamily="18" charset="0"/>
                <a:cs typeface="Times New Roman" panose="02020603050405020304" pitchFamily="18" charset="0"/>
              </a:rPr>
              <a:t>highest number of bottles preserved</a:t>
            </a:r>
            <a:r>
              <a:rPr lang="en-US" sz="1600" dirty="0">
                <a:solidFill>
                  <a:schemeClr val="bg1"/>
                </a:solidFill>
                <a:latin typeface="Times New Roman" panose="02020603050405020304" pitchFamily="18" charset="0"/>
                <a:cs typeface="Times New Roman" panose="02020603050405020304" pitchFamily="18" charset="0"/>
              </a:rPr>
              <a:t>, followed by a decline in 2020.</a:t>
            </a:r>
            <a:br>
              <a:rPr lang="en-US" sz="1600" dirty="0">
                <a:solidFill>
                  <a:schemeClr val="bg1"/>
                </a:solidFill>
                <a:latin typeface="Times New Roman" panose="02020603050405020304" pitchFamily="18" charset="0"/>
                <a:cs typeface="Times New Roman" panose="02020603050405020304" pitchFamily="18" charset="0"/>
              </a:rPr>
            </a:br>
            <a:r>
              <a:rPr lang="en-US" sz="1600" dirty="0">
                <a:solidFill>
                  <a:schemeClr val="bg1"/>
                </a:solidFill>
                <a:latin typeface="Times New Roman" panose="02020603050405020304" pitchFamily="18" charset="0"/>
                <a:cs typeface="Times New Roman" panose="02020603050405020304" pitchFamily="18" charset="0"/>
              </a:rPr>
              <a:t>This drop could be attributed to various factors such as </a:t>
            </a:r>
            <a:r>
              <a:rPr lang="en-US" sz="1600" b="1" dirty="0">
                <a:solidFill>
                  <a:schemeClr val="bg1"/>
                </a:solidFill>
                <a:latin typeface="Times New Roman" panose="02020603050405020304" pitchFamily="18" charset="0"/>
                <a:cs typeface="Times New Roman" panose="02020603050405020304" pitchFamily="18" charset="0"/>
              </a:rPr>
              <a:t>geographical conditions, transportation challenges</a:t>
            </a:r>
            <a:r>
              <a:rPr lang="en-US" sz="1600" dirty="0">
                <a:solidFill>
                  <a:schemeClr val="bg1"/>
                </a:solidFill>
                <a:latin typeface="Times New Roman" panose="02020603050405020304" pitchFamily="18" charset="0"/>
                <a:cs typeface="Times New Roman" panose="02020603050405020304" pitchFamily="18" charset="0"/>
              </a:rPr>
              <a:t>, or other market disruptions.</a:t>
            </a:r>
            <a:endParaRPr kumimoji="0" lang="en-IN" sz="16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D6E6AD9-5EA5-D72A-7D40-8F8A1DE54619}"/>
              </a:ext>
            </a:extLst>
          </p:cNvPr>
          <p:cNvSpPr txBox="1"/>
          <p:nvPr/>
        </p:nvSpPr>
        <p:spPr>
          <a:xfrm>
            <a:off x="311931" y="119187"/>
            <a:ext cx="11091672" cy="461665"/>
          </a:xfrm>
          <a:prstGeom prst="rect">
            <a:avLst/>
          </a:prstGeom>
          <a:noFill/>
        </p:spPr>
        <p:txBody>
          <a:bodyPr wrap="square" rtlCol="0">
            <a:spAutoFit/>
          </a:bodyPr>
          <a:lstStyle/>
          <a:p>
            <a:pPr algn="ctr"/>
            <a:r>
              <a:rPr lang="en-US" sz="2400" b="1" dirty="0">
                <a:solidFill>
                  <a:srgbClr val="C00000"/>
                </a:solidFill>
                <a:latin typeface="Times New Roman" panose="02020603050405020304" pitchFamily="18" charset="0"/>
                <a:cs typeface="Times New Roman" panose="02020603050405020304" pitchFamily="18" charset="0"/>
              </a:rPr>
              <a:t>Vintage Year Bottle Count as per Wine Style</a:t>
            </a:r>
            <a:endParaRPr lang="en-IN" sz="24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095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D614921-0FAD-13E9-FC59-850E0469B09D}"/>
              </a:ext>
            </a:extLst>
          </p:cNvPr>
          <p:cNvPicPr>
            <a:picLocks noChangeAspect="1"/>
          </p:cNvPicPr>
          <p:nvPr/>
        </p:nvPicPr>
        <p:blipFill>
          <a:blip r:embed="rId2"/>
          <a:srcRect t="2622" b="12166"/>
          <a:stretch/>
        </p:blipFill>
        <p:spPr>
          <a:xfrm>
            <a:off x="-1505" y="0"/>
            <a:ext cx="12191981" cy="6987396"/>
          </a:xfrm>
          <a:prstGeom prst="rect">
            <a:avLst/>
          </a:prstGeom>
        </p:spPr>
      </p:pic>
      <p:pic>
        <p:nvPicPr>
          <p:cNvPr id="4" name="Picture 3" descr="A screenshot of a computer screen&#10;&#10;Description automatically generated">
            <a:extLst>
              <a:ext uri="{FF2B5EF4-FFF2-40B4-BE49-F238E27FC236}">
                <a16:creationId xmlns:a16="http://schemas.microsoft.com/office/drawing/2014/main" id="{73BD218A-CF0A-255B-BB68-007EBEE13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 y="100583"/>
            <a:ext cx="12019658" cy="5888951"/>
          </a:xfrm>
          <a:prstGeom prst="rect">
            <a:avLst/>
          </a:prstGeom>
        </p:spPr>
      </p:pic>
      <p:sp>
        <p:nvSpPr>
          <p:cNvPr id="7" name="TextBox 6">
            <a:extLst>
              <a:ext uri="{FF2B5EF4-FFF2-40B4-BE49-F238E27FC236}">
                <a16:creationId xmlns:a16="http://schemas.microsoft.com/office/drawing/2014/main" id="{30CA2279-2547-27F4-C863-9C824AD20B66}"/>
              </a:ext>
            </a:extLst>
          </p:cNvPr>
          <p:cNvSpPr txBox="1"/>
          <p:nvPr/>
        </p:nvSpPr>
        <p:spPr>
          <a:xfrm>
            <a:off x="62614" y="6008034"/>
            <a:ext cx="11907012" cy="923330"/>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California is the largest producer across all wine styles</a:t>
            </a:r>
            <a:r>
              <a:rPr lang="en-US" dirty="0">
                <a:solidFill>
                  <a:schemeClr val="bg1"/>
                </a:solidFill>
                <a:latin typeface="Times New Roman" panose="02020603050405020304" pitchFamily="18" charset="0"/>
                <a:cs typeface="Times New Roman" panose="02020603050405020304" pitchFamily="18" charset="0"/>
              </a:rPr>
              <a:t>, with </a:t>
            </a:r>
            <a:r>
              <a:rPr lang="en-US" b="1" dirty="0">
                <a:solidFill>
                  <a:schemeClr val="bg1"/>
                </a:solidFill>
                <a:latin typeface="Times New Roman" panose="02020603050405020304" pitchFamily="18" charset="0"/>
                <a:cs typeface="Times New Roman" panose="02020603050405020304" pitchFamily="18" charset="0"/>
              </a:rPr>
              <a:t>Red wine being the most produced</a:t>
            </a:r>
            <a:r>
              <a:rPr lang="en-US" dirty="0">
                <a:solidFill>
                  <a:schemeClr val="bg1"/>
                </a:solidFill>
                <a:latin typeface="Times New Roman" panose="02020603050405020304" pitchFamily="18" charset="0"/>
                <a:cs typeface="Times New Roman" panose="02020603050405020304" pitchFamily="18" charset="0"/>
              </a:rPr>
              <a:t>, followed by </a:t>
            </a:r>
            <a:r>
              <a:rPr lang="en-US" b="1" dirty="0">
                <a:solidFill>
                  <a:schemeClr val="bg1"/>
                </a:solidFill>
                <a:latin typeface="Times New Roman" panose="02020603050405020304" pitchFamily="18" charset="0"/>
                <a:cs typeface="Times New Roman" panose="02020603050405020304" pitchFamily="18" charset="0"/>
              </a:rPr>
              <a:t>White</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Rosé</a:t>
            </a:r>
            <a:r>
              <a:rPr lang="en-US" dirty="0">
                <a:solidFill>
                  <a:schemeClr val="bg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Washington and Oregon</a:t>
            </a:r>
            <a:r>
              <a:rPr lang="en-US" dirty="0">
                <a:solidFill>
                  <a:schemeClr val="bg1"/>
                </a:solidFill>
                <a:latin typeface="Times New Roman" panose="02020603050405020304" pitchFamily="18" charset="0"/>
                <a:cs typeface="Times New Roman" panose="02020603050405020304" pitchFamily="18" charset="0"/>
              </a:rPr>
              <a:t> hold the </a:t>
            </a:r>
            <a:r>
              <a:rPr lang="en-US" b="1" dirty="0">
                <a:solidFill>
                  <a:schemeClr val="bg1"/>
                </a:solidFill>
                <a:latin typeface="Times New Roman" panose="02020603050405020304" pitchFamily="18" charset="0"/>
                <a:cs typeface="Times New Roman" panose="02020603050405020304" pitchFamily="18" charset="0"/>
              </a:rPr>
              <a:t>second and third positions</a:t>
            </a:r>
            <a:r>
              <a:rPr lang="en-US" dirty="0">
                <a:solidFill>
                  <a:schemeClr val="bg1"/>
                </a:solidFill>
                <a:latin typeface="Times New Roman" panose="02020603050405020304" pitchFamily="18" charset="0"/>
                <a:cs typeface="Times New Roman" panose="02020603050405020304" pitchFamily="18" charset="0"/>
              </a:rPr>
              <a:t>, respectively, in overall wine production.</a:t>
            </a:r>
          </a:p>
        </p:txBody>
      </p:sp>
    </p:spTree>
    <p:extLst>
      <p:ext uri="{BB962C8B-B14F-4D97-AF65-F5344CB8AC3E}">
        <p14:creationId xmlns:p14="http://schemas.microsoft.com/office/powerpoint/2010/main" val="2755781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8925</TotalTime>
  <Words>836</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divya rohra</dc:creator>
  <cp:lastModifiedBy>Kunal Kaushal</cp:lastModifiedBy>
  <cp:revision>11</cp:revision>
  <dcterms:created xsi:type="dcterms:W3CDTF">2025-04-04T06:01:11Z</dcterms:created>
  <dcterms:modified xsi:type="dcterms:W3CDTF">2025-04-10T12:36:06Z</dcterms:modified>
</cp:coreProperties>
</file>